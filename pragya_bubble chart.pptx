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731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Sheet1!$A$14</c:f>
              <c:strCache>
                <c:ptCount val="1"/>
                <c:pt idx="0">
                  <c:v>250ML CANS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1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E2D7-4352-8748-8E9FCB51BD8C}"/>
              </c:ext>
            </c:extLst>
          </c:dPt>
          <c:dPt>
            <c:idx val="3"/>
            <c:invertIfNegative val="0"/>
            <c:bubble3D val="1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D90-45FA-8596-F6A844173D42}"/>
              </c:ext>
            </c:extLst>
          </c:dPt>
          <c:dPt>
            <c:idx val="5"/>
            <c:invertIfNegative val="0"/>
            <c:bubble3D val="1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D90-45FA-8596-F6A844173D42}"/>
              </c:ext>
            </c:extLst>
          </c:dPt>
          <c:dPt>
            <c:idx val="6"/>
            <c:invertIfNegative val="0"/>
            <c:bubble3D val="1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D90-45FA-8596-F6A844173D42}"/>
              </c:ext>
            </c:extLst>
          </c:dPt>
          <c:dPt>
            <c:idx val="7"/>
            <c:invertIfNegative val="0"/>
            <c:bubble3D val="1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2D7-4352-8748-8E9FCB51BD8C}"/>
              </c:ext>
            </c:extLst>
          </c:dPt>
          <c:dPt>
            <c:idx val="9"/>
            <c:invertIfNegative val="0"/>
            <c:bubble3D val="1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D91-48B9-A83D-EC4906EBFFFD}"/>
              </c:ext>
            </c:extLst>
          </c:dPt>
          <c:dPt>
            <c:idx val="10"/>
            <c:invertIfNegative val="0"/>
            <c:bubble3D val="1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D91-48B9-A83D-EC4906EBFFFD}"/>
              </c:ext>
            </c:extLst>
          </c:dPt>
          <c:dPt>
            <c:idx val="12"/>
            <c:invertIfNegative val="0"/>
            <c:bubble3D val="1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B059-46FD-8C91-66056C5579A1}"/>
              </c:ext>
            </c:extLst>
          </c:dPt>
          <c:dPt>
            <c:idx val="16"/>
            <c:invertIfNegative val="0"/>
            <c:bubble3D val="1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BB7B-49B5-98AB-3709AB6F53E0}"/>
              </c:ext>
            </c:extLst>
          </c:dPt>
          <c:dPt>
            <c:idx val="17"/>
            <c:invertIfNegative val="0"/>
            <c:bubble3D val="1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B7B-49B5-98AB-3709AB6F53E0}"/>
              </c:ext>
            </c:extLst>
          </c:dPt>
          <c:dLbls>
            <c:dLbl>
              <c:idx val="0"/>
              <c:layout>
                <c:manualLayout>
                  <c:x val="-3.2426567629678972E-2"/>
                  <c:y val="-0.1311827961105729"/>
                </c:manualLayout>
              </c:layout>
              <c:tx>
                <c:rich>
                  <a:bodyPr/>
                  <a:lstStyle/>
                  <a:p>
                    <a:fld id="{BB3A4E29-6F77-4A37-B383-23E463418492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AD90-45FA-8596-F6A844173D42}"/>
                </c:ext>
              </c:extLst>
            </c:dLbl>
            <c:dLbl>
              <c:idx val="1"/>
              <c:layout>
                <c:manualLayout>
                  <c:x val="5.2478646904091392E-5"/>
                  <c:y val="-3.6554398422423064E-2"/>
                </c:manualLayout>
              </c:layout>
              <c:tx>
                <c:rich>
                  <a:bodyPr/>
                  <a:lstStyle/>
                  <a:p>
                    <a:fld id="{2EA52158-A2D3-4C30-BAD8-9BF3CA40E218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E2D7-4352-8748-8E9FCB51BD8C}"/>
                </c:ext>
              </c:extLst>
            </c:dLbl>
            <c:dLbl>
              <c:idx val="2"/>
              <c:layout>
                <c:manualLayout>
                  <c:x val="-1.8190622590585493E-3"/>
                  <c:y val="-0.10489424820652446"/>
                </c:manualLayout>
              </c:layout>
              <c:tx>
                <c:rich>
                  <a:bodyPr/>
                  <a:lstStyle/>
                  <a:p>
                    <a:fld id="{C734CF89-FD24-472F-B62D-7B8DE6EBF04B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E2D7-4352-8748-8E9FCB51BD8C}"/>
                </c:ext>
              </c:extLst>
            </c:dLbl>
            <c:dLbl>
              <c:idx val="3"/>
              <c:layout>
                <c:manualLayout>
                  <c:x val="-0.10517977011580953"/>
                  <c:y val="-9.9510471814516027E-2"/>
                </c:manualLayout>
              </c:layout>
              <c:tx>
                <c:rich>
                  <a:bodyPr/>
                  <a:lstStyle/>
                  <a:p>
                    <a:fld id="{3AFC9D41-701C-40C4-8E54-74DCC0E5D234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D90-45FA-8596-F6A844173D42}"/>
                </c:ext>
              </c:extLst>
            </c:dLbl>
            <c:dLbl>
              <c:idx val="4"/>
              <c:layout>
                <c:manualLayout>
                  <c:x val="1.4207577933541549E-2"/>
                  <c:y val="-2.7570463231406675E-2"/>
                </c:manualLayout>
              </c:layout>
              <c:tx>
                <c:rich>
                  <a:bodyPr/>
                  <a:lstStyle/>
                  <a:p>
                    <a:fld id="{EE1E0343-0ADA-49EE-A842-6E235DBDE28E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AD90-45FA-8596-F6A844173D42}"/>
                </c:ext>
              </c:extLst>
            </c:dLbl>
            <c:dLbl>
              <c:idx val="5"/>
              <c:layout>
                <c:manualLayout>
                  <c:x val="-9.859637394557072E-3"/>
                  <c:y val="-9.4043046475508082E-2"/>
                </c:manualLayout>
              </c:layout>
              <c:tx>
                <c:rich>
                  <a:bodyPr/>
                  <a:lstStyle/>
                  <a:p>
                    <a:fld id="{67B6269B-48A9-4683-9DE4-8CAF8A3586DC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D90-45FA-8596-F6A844173D42}"/>
                </c:ext>
              </c:extLst>
            </c:dLbl>
            <c:dLbl>
              <c:idx val="6"/>
              <c:layout>
                <c:manualLayout>
                  <c:x val="-4.9174185008728864E-3"/>
                  <c:y val="-7.2037822340355884E-2"/>
                </c:manualLayout>
              </c:layout>
              <c:tx>
                <c:rich>
                  <a:bodyPr/>
                  <a:lstStyle/>
                  <a:p>
                    <a:fld id="{D35BD7EE-6123-4A56-994C-3D0A8CEDBA8D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AD90-45FA-8596-F6A844173D42}"/>
                </c:ext>
              </c:extLst>
            </c:dLbl>
            <c:dLbl>
              <c:idx val="7"/>
              <c:layout>
                <c:manualLayout>
                  <c:x val="2.2704294082211536E-2"/>
                  <c:y val="3.6413133152661814E-2"/>
                </c:manualLayout>
              </c:layout>
              <c:tx>
                <c:rich>
                  <a:bodyPr/>
                  <a:lstStyle/>
                  <a:p>
                    <a:fld id="{E5801DDA-8C93-4093-8E50-D963EC01CAA0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E2D7-4352-8748-8E9FCB51BD8C}"/>
                </c:ext>
              </c:extLst>
            </c:dLbl>
            <c:dLbl>
              <c:idx val="8"/>
              <c:layout>
                <c:manualLayout>
                  <c:x val="2.7144918683066978E-2"/>
                  <c:y val="-2.488795443678235E-2"/>
                </c:manualLayout>
              </c:layout>
              <c:tx>
                <c:rich>
                  <a:bodyPr/>
                  <a:lstStyle/>
                  <a:p>
                    <a:fld id="{A75544B8-3F47-4357-A9D8-93440D43A04B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3D91-48B9-A83D-EC4906EBFFFD}"/>
                </c:ext>
              </c:extLst>
            </c:dLbl>
            <c:dLbl>
              <c:idx val="9"/>
              <c:layout>
                <c:manualLayout>
                  <c:x val="-1.3623287450349486E-2"/>
                  <c:y val="-8.2613384520618838E-2"/>
                </c:manualLayout>
              </c:layout>
              <c:tx>
                <c:rich>
                  <a:bodyPr/>
                  <a:lstStyle/>
                  <a:p>
                    <a:fld id="{8B2B5873-A456-44E3-BD27-5235D95BF940}" type="CELLRANGE">
                      <a:rPr lang="en-US" baseline="0" dirty="0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3D91-48B9-A83D-EC4906EBFFFD}"/>
                </c:ext>
              </c:extLst>
            </c:dLbl>
            <c:dLbl>
              <c:idx val="10"/>
              <c:layout>
                <c:manualLayout>
                  <c:x val="-7.3447675276352972E-2"/>
                  <c:y val="0.11160702834914496"/>
                </c:manualLayout>
              </c:layout>
              <c:tx>
                <c:rich>
                  <a:bodyPr/>
                  <a:lstStyle/>
                  <a:p>
                    <a:fld id="{D984B004-C95E-43C8-8854-8A7854C3AAF1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3D91-48B9-A83D-EC4906EBFFFD}"/>
                </c:ext>
              </c:extLst>
            </c:dLbl>
            <c:dLbl>
              <c:idx val="11"/>
              <c:layout>
                <c:manualLayout>
                  <c:x val="5.4894865379151031E-2"/>
                  <c:y val="-6.4027622145647167E-2"/>
                </c:manualLayout>
              </c:layout>
              <c:tx>
                <c:rich>
                  <a:bodyPr/>
                  <a:lstStyle/>
                  <a:p>
                    <a:fld id="{CE82DDCC-3825-455E-B24D-3A4FAC5B4FED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B059-46FD-8C91-66056C5579A1}"/>
                </c:ext>
              </c:extLst>
            </c:dLbl>
            <c:dLbl>
              <c:idx val="12"/>
              <c:layout>
                <c:manualLayout>
                  <c:x val="-4.2921161415998291E-2"/>
                  <c:y val="-7.8360495952118345E-2"/>
                </c:manualLayout>
              </c:layout>
              <c:tx>
                <c:rich>
                  <a:bodyPr/>
                  <a:lstStyle/>
                  <a:p>
                    <a:fld id="{E640C104-91C8-4183-8E56-E26652DE046D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B059-46FD-8C91-66056C5579A1}"/>
                </c:ext>
              </c:extLst>
            </c:dLbl>
            <c:dLbl>
              <c:idx val="13"/>
              <c:layout>
                <c:manualLayout>
                  <c:x val="-8.6315016282346668E-2"/>
                  <c:y val="6.7821302879246523E-2"/>
                </c:manualLayout>
              </c:layout>
              <c:tx>
                <c:rich>
                  <a:bodyPr/>
                  <a:lstStyle/>
                  <a:p>
                    <a:fld id="{84347034-B40E-471C-B499-4815312B7326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B059-46FD-8C91-66056C5579A1}"/>
                </c:ext>
              </c:extLst>
            </c:dLbl>
            <c:dLbl>
              <c:idx val="14"/>
              <c:layout>
                <c:manualLayout>
                  <c:x val="-1.128104693884858E-2"/>
                  <c:y val="7.4364105298902375E-2"/>
                </c:manualLayout>
              </c:layout>
              <c:tx>
                <c:rich>
                  <a:bodyPr/>
                  <a:lstStyle/>
                  <a:p>
                    <a:fld id="{BE7B1620-757D-4F1B-80FE-861F5C670259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B059-46FD-8C91-66056C5579A1}"/>
                </c:ext>
              </c:extLst>
            </c:dLbl>
            <c:dLbl>
              <c:idx val="15"/>
              <c:layout>
                <c:manualLayout>
                  <c:x val="1.8473837997909148E-2"/>
                  <c:y val="-7.6069625019189485E-2"/>
                </c:manualLayout>
              </c:layout>
              <c:tx>
                <c:rich>
                  <a:bodyPr/>
                  <a:lstStyle/>
                  <a:p>
                    <a:fld id="{4F3426D2-8902-4DB1-BD9A-B77EE654BA68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7F54-489F-A064-D2FBD5AF32D0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C3070E03-3709-496C-97EA-61325AF43128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BB7B-49B5-98AB-3709AB6F53E0}"/>
                </c:ext>
              </c:extLst>
            </c:dLbl>
            <c:dLbl>
              <c:idx val="17"/>
              <c:layout>
                <c:manualLayout>
                  <c:x val="-6.449794990473167E-3"/>
                  <c:y val="-0.13823266045380223"/>
                </c:manualLayout>
              </c:layout>
              <c:tx>
                <c:rich>
                  <a:bodyPr/>
                  <a:lstStyle/>
                  <a:p>
                    <a:fld id="{BA24A144-25CE-40C9-BB5C-4B46DA8AE70D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BB7B-49B5-98AB-3709AB6F53E0}"/>
                </c:ext>
              </c:extLst>
            </c:dLbl>
            <c:dLbl>
              <c:idx val="18"/>
              <c:layout>
                <c:manualLayout>
                  <c:x val="-2.8087672181805679E-2"/>
                  <c:y val="-6.4369874587832776E-2"/>
                </c:manualLayout>
              </c:layout>
              <c:tx>
                <c:rich>
                  <a:bodyPr/>
                  <a:lstStyle/>
                  <a:p>
                    <a:fld id="{5ED1588A-E3C8-4C7B-B851-1A4516E36EE7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BB7B-49B5-98AB-3709AB6F53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ova" panose="020B05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Sheet1!$B$2:$B$20</c:f>
              <c:numCache>
                <c:formatCode>0</c:formatCode>
                <c:ptCount val="19"/>
                <c:pt idx="0">
                  <c:v>59.980158730158728</c:v>
                </c:pt>
                <c:pt idx="1">
                  <c:v>446.09090909090912</c:v>
                </c:pt>
                <c:pt idx="2">
                  <c:v>1542.5636363636363</c:v>
                </c:pt>
                <c:pt idx="3">
                  <c:v>1284.25</c:v>
                </c:pt>
                <c:pt idx="4">
                  <c:v>21.88095238095238</c:v>
                </c:pt>
                <c:pt idx="5">
                  <c:v>34</c:v>
                </c:pt>
                <c:pt idx="6">
                  <c:v>1606.7999999999997</c:v>
                </c:pt>
                <c:pt idx="7">
                  <c:v>32</c:v>
                </c:pt>
                <c:pt idx="8">
                  <c:v>23.5</c:v>
                </c:pt>
                <c:pt idx="9">
                  <c:v>1367.2727272727275</c:v>
                </c:pt>
                <c:pt idx="10">
                  <c:v>1106.5</c:v>
                </c:pt>
                <c:pt idx="11">
                  <c:v>3</c:v>
                </c:pt>
                <c:pt idx="12">
                  <c:v>591.25</c:v>
                </c:pt>
                <c:pt idx="13">
                  <c:v>1029.75</c:v>
                </c:pt>
                <c:pt idx="14">
                  <c:v>29.5</c:v>
                </c:pt>
                <c:pt idx="15">
                  <c:v>255.68968253968251</c:v>
                </c:pt>
                <c:pt idx="16">
                  <c:v>1529.25</c:v>
                </c:pt>
                <c:pt idx="17">
                  <c:v>2972.1666666666665</c:v>
                </c:pt>
                <c:pt idx="18">
                  <c:v>188</c:v>
                </c:pt>
              </c:numCache>
            </c:numRef>
          </c:xVal>
          <c:yVal>
            <c:numRef>
              <c:f>Sheet1!$C$2:$C$20</c:f>
              <c:numCache>
                <c:formatCode>0</c:formatCode>
                <c:ptCount val="19"/>
                <c:pt idx="0">
                  <c:v>180.03567853881276</c:v>
                </c:pt>
                <c:pt idx="1">
                  <c:v>110.19469517786754</c:v>
                </c:pt>
                <c:pt idx="2">
                  <c:v>278.6907476251082</c:v>
                </c:pt>
                <c:pt idx="3">
                  <c:v>106.87760577807066</c:v>
                </c:pt>
                <c:pt idx="4">
                  <c:v>104.79297666437887</c:v>
                </c:pt>
                <c:pt idx="5">
                  <c:v>113.54673749952026</c:v>
                </c:pt>
                <c:pt idx="6">
                  <c:v>31.762400921072778</c:v>
                </c:pt>
                <c:pt idx="7">
                  <c:v>86.234898550724637</c:v>
                </c:pt>
                <c:pt idx="8">
                  <c:v>89.282022586520966</c:v>
                </c:pt>
                <c:pt idx="9">
                  <c:v>198.58711558192019</c:v>
                </c:pt>
                <c:pt idx="10">
                  <c:v>51.071528277529502</c:v>
                </c:pt>
                <c:pt idx="11">
                  <c:v>4.1440000000000001</c:v>
                </c:pt>
                <c:pt idx="12">
                  <c:v>66.437980365359962</c:v>
                </c:pt>
                <c:pt idx="13">
                  <c:v>65.818292344006693</c:v>
                </c:pt>
                <c:pt idx="14">
                  <c:v>71.449172506538787</c:v>
                </c:pt>
                <c:pt idx="15">
                  <c:v>158.50810772368942</c:v>
                </c:pt>
                <c:pt idx="16">
                  <c:v>101.31154821665822</c:v>
                </c:pt>
                <c:pt idx="17">
                  <c:v>251.10769055518423</c:v>
                </c:pt>
                <c:pt idx="18">
                  <c:v>179.4859103409739</c:v>
                </c:pt>
              </c:numCache>
            </c:numRef>
          </c:yVal>
          <c:bubbleSize>
            <c:numRef>
              <c:f>Sheet1!$D$2:$D$20</c:f>
              <c:numCache>
                <c:formatCode>0</c:formatCode>
                <c:ptCount val="19"/>
                <c:pt idx="0">
                  <c:v>2420.9690000000001</c:v>
                </c:pt>
                <c:pt idx="1">
                  <c:v>17531.320000000036</c:v>
                </c:pt>
                <c:pt idx="2">
                  <c:v>153824.61600000021</c:v>
                </c:pt>
                <c:pt idx="3">
                  <c:v>44561.771999999786</c:v>
                </c:pt>
                <c:pt idx="4">
                  <c:v>822.61500000000001</c:v>
                </c:pt>
                <c:pt idx="5">
                  <c:v>791.70499999999993</c:v>
                </c:pt>
                <c:pt idx="6">
                  <c:v>13560.469999999943</c:v>
                </c:pt>
                <c:pt idx="7">
                  <c:v>1707.3040000000001</c:v>
                </c:pt>
                <c:pt idx="8">
                  <c:v>978.62400000000025</c:v>
                </c:pt>
                <c:pt idx="9">
                  <c:v>100152.62600000012</c:v>
                </c:pt>
                <c:pt idx="10">
                  <c:v>18062.828999999947</c:v>
                </c:pt>
                <c:pt idx="11">
                  <c:v>4.1440000000000001</c:v>
                </c:pt>
                <c:pt idx="12">
                  <c:v>12461.340000000037</c:v>
                </c:pt>
                <c:pt idx="13">
                  <c:v>18436.282000000047</c:v>
                </c:pt>
                <c:pt idx="14">
                  <c:v>704.49099999999976</c:v>
                </c:pt>
                <c:pt idx="15">
                  <c:v>8028.37499999999</c:v>
                </c:pt>
                <c:pt idx="16">
                  <c:v>52974.356000000291</c:v>
                </c:pt>
                <c:pt idx="17">
                  <c:v>101633.29799999954</c:v>
                </c:pt>
                <c:pt idx="18">
                  <c:v>6925.7119999999995</c:v>
                </c:pt>
              </c:numCache>
            </c:numRef>
          </c:bubbleSize>
          <c:bubble3D val="1"/>
          <c:extLst>
            <c:ext xmlns:c15="http://schemas.microsoft.com/office/drawing/2012/chart" uri="{02D57815-91ED-43cb-92C2-25804820EDAC}">
              <c15:datalabelsRange>
                <c15:f>Sheet1!$A$2:$A$20</c15:f>
                <c15:dlblRangeCache>
                  <c:ptCount val="19"/>
                  <c:pt idx="0">
                    <c:v>1000ML PET</c:v>
                  </c:pt>
                  <c:pt idx="1">
                    <c:v>1005ML PET</c:v>
                  </c:pt>
                  <c:pt idx="2">
                    <c:v>1480ML PET</c:v>
                  </c:pt>
                  <c:pt idx="3">
                    <c:v>1490ML PET</c:v>
                  </c:pt>
                  <c:pt idx="4">
                    <c:v>1500ML PET</c:v>
                  </c:pt>
                  <c:pt idx="5">
                    <c:v>150ML CANS</c:v>
                  </c:pt>
                  <c:pt idx="6">
                    <c:v>185ML CANS</c:v>
                  </c:pt>
                  <c:pt idx="7">
                    <c:v>2000ML PET</c:v>
                  </c:pt>
                  <c:pt idx="8">
                    <c:v>2005ML PET</c:v>
                  </c:pt>
                  <c:pt idx="9">
                    <c:v>2250ML PET</c:v>
                  </c:pt>
                  <c:pt idx="10">
                    <c:v>2260ML PET</c:v>
                  </c:pt>
                  <c:pt idx="11">
                    <c:v>245ML CANS</c:v>
                  </c:pt>
                  <c:pt idx="12">
                    <c:v>250ML CANS</c:v>
                  </c:pt>
                  <c:pt idx="13">
                    <c:v>250ML NRB</c:v>
                  </c:pt>
                  <c:pt idx="14">
                    <c:v>290ml NRB</c:v>
                  </c:pt>
                  <c:pt idx="15">
                    <c:v>300ML CANS</c:v>
                  </c:pt>
                  <c:pt idx="16">
                    <c:v>300ML PET</c:v>
                  </c:pt>
                  <c:pt idx="17">
                    <c:v>330ML CANS</c:v>
                  </c:pt>
                  <c:pt idx="18">
                    <c:v>500ML PET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E2D7-4352-8748-8E9FCB51BD8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2078191839"/>
        <c:axId val="1449123423"/>
      </c:bubbleChart>
      <c:valAx>
        <c:axId val="2078191839"/>
        <c:scaling>
          <c:orientation val="minMax"/>
          <c:max val="3200"/>
          <c:min val="0"/>
        </c:scaling>
        <c:delete val="0"/>
        <c:axPos val="b"/>
        <c:numFmt formatCode="0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23423"/>
        <c:crossesAt val="118"/>
        <c:crossBetween val="midCat"/>
      </c:valAx>
      <c:valAx>
        <c:axId val="1449123423"/>
        <c:scaling>
          <c:orientation val="minMax"/>
          <c:max val="330"/>
          <c:min val="0"/>
        </c:scaling>
        <c:delete val="0"/>
        <c:axPos val="l"/>
        <c:numFmt formatCode="0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8191839"/>
        <c:crossesAt val="743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1">
          <a:lumMod val="9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4821F-2234-7671-AF9A-2B11188CD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20890-28DB-4C48-0813-D4F58B450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D42A7-7874-8411-7EA6-6B212E9E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DE248-A071-0114-A854-2FF65BF5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88D88-074F-B75E-662D-3AD0AE1A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12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C27C-88B4-2FE8-182F-D3AE3AA1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83C7-C41B-F776-DFFE-3D0372B72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04B1D-D271-49C9-BB0A-1A9C3832F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75728-035A-3C19-2CAC-213768496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BEF80-F818-3D69-B5E4-DC8139048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54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A075-ACCE-F13E-A2E7-1CA1A16A0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2AC00-B246-A755-DE9A-77CA8DDDE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21F3D-3682-C3CC-FB69-A523450B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5F07C-FB6C-4744-C654-8CE9D1A8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75501-B4A9-119E-3C45-324BF90C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21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1E9FC-314D-CB73-A69A-97FA2732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BFB52-F135-5961-EDCF-41813254E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090D6-429B-08F4-E04A-08C73EF93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5AD36-902E-9AC9-2D1E-D0DCAD773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90BDC-420C-54E6-85BD-3A0CB778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D3C38-7EC3-5E91-ACCB-5F9202A2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33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5860-9573-F171-F90A-23FD1FDCB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78E4F-4773-37B2-75B0-1CF8359A1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03309-262C-A309-39EF-9979821A4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C9075-E209-3DFE-6D5F-831E5AEF8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8B27E-E88B-0EFA-1CFD-28E94BC68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C4A07D-9C22-D2A8-6184-0B9779211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800CA-ACEC-2E2E-1E30-DA5F50442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2DB010-4FCF-3753-734C-506CCC48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64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CC188-CEDC-3DC3-9EB8-63D77799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31B29-718E-9A05-2A5E-ECF4C7B0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34116-39F2-183F-6A71-249BDE51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AEF43-F3E6-690B-4DB7-EA2A57C19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04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6D6A4D-4AE1-EB95-7101-027895EF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81949-1DBE-8100-AF08-5E61FD99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42173-CF99-CEA7-9395-716F2B47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78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F2A1-0606-4880-6A3E-B7EF6F8D6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1628E-5285-0510-A26E-AD69317D3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16864-95BF-7FEF-1A12-D69F519EC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1D137-D478-AAAB-B25C-FD0E5290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C95C5-EBD8-6D7F-91D1-6E4424AB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222B3-0650-1EE4-B968-17F256F5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593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4DA2-3DC0-9949-3DAE-5ED0126A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B1C5E-6FBF-3B1A-9003-FBD5A1509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1CA05-C08E-2A20-53EC-7664D1F6E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145C3-364D-CB15-D192-691C73C5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D8C57-A136-BC64-AE46-A1B2471A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4C964-DF58-1BAB-3E8C-F9DFADEB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46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609C-E488-2E4F-2B0B-5719B701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BD668-D4ED-2C46-0BEC-979B9FB10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A3DB5-2053-80BA-F977-98096131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05A6F-55B6-6D72-3B80-BC42D992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16D6E-D145-31D1-4CBF-989B04DA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90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1E5259-B28A-6270-B7E0-B5EC406EC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9A8FC-8023-EB99-41A2-2B8E919A8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DA118-A9F8-D6EF-4C38-F4908647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CCFC-DDDB-4CF5-B057-0A3F5717074A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7DAC8-FF5F-F925-DF9A-E09FD4CF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C1B79-C0F8-ECB8-9776-EDCE0EBDB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DD4C9-5A81-49B2-81B2-662D1CA6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52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4539" y="0"/>
            <a:ext cx="11481067" cy="6945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indent="0" algn="ctr" defTabSz="914377">
              <a:buNone/>
            </a:pPr>
            <a:endParaRPr lang="en-GB" sz="2200">
              <a:solidFill>
                <a:prstClr val="white"/>
              </a:solidFill>
              <a:latin typeface="Arial Nova" panose="020B0504020202020204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8367" y="53142"/>
            <a:ext cx="11880000" cy="57404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0704000" y="694649"/>
            <a:ext cx="1488000" cy="0"/>
          </a:xfrm>
          <a:prstGeom prst="line">
            <a:avLst/>
          </a:prstGeom>
          <a:ln w="28575">
            <a:solidFill>
              <a:srgbClr val="6F6D67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-4540" y="70682"/>
            <a:ext cx="93208" cy="5385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77"/>
            <a:endParaRPr lang="en-GB" sz="2400">
              <a:solidFill>
                <a:prstClr val="white"/>
              </a:solidFill>
              <a:latin typeface="Arial Nova" panose="020B0504020202020204" pitchFamily="34" charset="0"/>
            </a:endParaRP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-13063" y="694648"/>
            <a:ext cx="12211200" cy="0"/>
          </a:xfrm>
          <a:prstGeom prst="line">
            <a:avLst/>
          </a:prstGeom>
          <a:ln w="28575">
            <a:solidFill>
              <a:srgbClr val="12A7AE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ulf Coca-Cola Beverages (GCCB) | LinkedIn">
            <a:extLst>
              <a:ext uri="{FF2B5EF4-FFF2-40B4-BE49-F238E27FC236}">
                <a16:creationId xmlns:a16="http://schemas.microsoft.com/office/drawing/2014/main" id="{95D340CB-C455-6A55-18F0-53C46CAAA6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227" y="36484"/>
            <a:ext cx="606991" cy="60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96AAA00-3BA4-B720-1D4E-A7ED1AF61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6482" y="6651077"/>
            <a:ext cx="511525" cy="2069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fld id="{7BD69DE0-3FD5-40B4-BBA3-268E68A231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D4607-AD91-0307-4F10-4AAC6B4F5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" y="6651062"/>
            <a:ext cx="11666483" cy="20693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pPr>
              <a:defRPr/>
            </a:pPr>
            <a:r>
              <a:rPr lang="en-IN">
                <a:cs typeface="Arial" panose="020B0604020202020204" pitchFamily="34" charset="0"/>
              </a:rPr>
              <a:t>Classified- Internal Only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42DFE2-C203-AA7B-7D94-0816B9E9E5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86762" y="694600"/>
            <a:ext cx="2619230" cy="206928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DFR Topline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EC423-73A8-3800-33DE-C347330DE1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4540" y="6651012"/>
            <a:ext cx="2312988" cy="206375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Source: Sell-in, Promotion Data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13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iel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4539" y="0"/>
            <a:ext cx="11481067" cy="6945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indent="0" algn="ctr" defTabSz="914377">
              <a:buNone/>
            </a:pPr>
            <a:endParaRPr lang="en-GB" sz="2200">
              <a:solidFill>
                <a:prstClr val="white"/>
              </a:solidFill>
              <a:latin typeface="Arial Nova" panose="020B0504020202020204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8367" y="53142"/>
            <a:ext cx="11880000" cy="57404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0704000" y="694649"/>
            <a:ext cx="1488000" cy="0"/>
          </a:xfrm>
          <a:prstGeom prst="line">
            <a:avLst/>
          </a:prstGeom>
          <a:ln w="28575">
            <a:solidFill>
              <a:srgbClr val="6F6D67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-4540" y="70682"/>
            <a:ext cx="93208" cy="5385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77"/>
            <a:endParaRPr lang="en-GB" sz="2400">
              <a:solidFill>
                <a:prstClr val="white"/>
              </a:solidFill>
              <a:latin typeface="Arial Nova" panose="020B0504020202020204" pitchFamily="34" charset="0"/>
            </a:endParaRP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-13063" y="694648"/>
            <a:ext cx="12211200" cy="0"/>
          </a:xfrm>
          <a:prstGeom prst="line">
            <a:avLst/>
          </a:prstGeom>
          <a:ln w="28575">
            <a:solidFill>
              <a:srgbClr val="12A7AE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ulf Coca-Cola Beverages (GCCB) | LinkedIn">
            <a:extLst>
              <a:ext uri="{FF2B5EF4-FFF2-40B4-BE49-F238E27FC236}">
                <a16:creationId xmlns:a16="http://schemas.microsoft.com/office/drawing/2014/main" id="{95D340CB-C455-6A55-18F0-53C46CAAA6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227" y="36484"/>
            <a:ext cx="606991" cy="60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96AAA00-3BA4-B720-1D4E-A7ED1AF61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6482" y="6651077"/>
            <a:ext cx="511525" cy="2069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fld id="{7BD69DE0-3FD5-40B4-BBA3-268E68A231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D4607-AD91-0307-4F10-4AAC6B4F5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" y="6651062"/>
            <a:ext cx="11666483" cy="20693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pPr>
              <a:defRPr/>
            </a:pPr>
            <a:r>
              <a:rPr lang="en-IN">
                <a:cs typeface="Arial" panose="020B0604020202020204" pitchFamily="34" charset="0"/>
              </a:rPr>
              <a:t>Classified - Internal Only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EC423-73A8-3800-33DE-C347330DE1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4540" y="6651012"/>
            <a:ext cx="2312988" cy="206375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Source: Nielsen</a:t>
            </a:r>
          </a:p>
        </p:txBody>
      </p:sp>
    </p:spTree>
    <p:extLst>
      <p:ext uri="{BB962C8B-B14F-4D97-AF65-F5344CB8AC3E}">
        <p14:creationId xmlns:p14="http://schemas.microsoft.com/office/powerpoint/2010/main" val="2131291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iel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4539" y="0"/>
            <a:ext cx="11481067" cy="6945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8367" y="53142"/>
            <a:ext cx="11880000" cy="57404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0704000" y="694649"/>
            <a:ext cx="1488000" cy="0"/>
          </a:xfrm>
          <a:prstGeom prst="line">
            <a:avLst/>
          </a:prstGeom>
          <a:ln w="28575">
            <a:solidFill>
              <a:srgbClr val="6F6D67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-4540" y="70682"/>
            <a:ext cx="93208" cy="5385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-13063" y="694648"/>
            <a:ext cx="12211200" cy="0"/>
          </a:xfrm>
          <a:prstGeom prst="line">
            <a:avLst/>
          </a:prstGeom>
          <a:ln w="28575">
            <a:solidFill>
              <a:srgbClr val="12A7AE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ulf Coca-Cola Beverages (GCCB) | LinkedIn">
            <a:extLst>
              <a:ext uri="{FF2B5EF4-FFF2-40B4-BE49-F238E27FC236}">
                <a16:creationId xmlns:a16="http://schemas.microsoft.com/office/drawing/2014/main" id="{95D340CB-C455-6A55-18F0-53C46CAAA6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227" y="36484"/>
            <a:ext cx="606991" cy="60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96AAA00-3BA4-B720-1D4E-A7ED1AF61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6482" y="6651077"/>
            <a:ext cx="511525" cy="2069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D69DE0-3FD5-40B4-BBA3-268E68A231D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D4607-AD91-0307-4F10-4AAC6B4F5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" y="6651062"/>
            <a:ext cx="11666483" cy="20693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pPr>
              <a:defRPr/>
            </a:pPr>
            <a:r>
              <a:rPr lang="en-IN">
                <a:solidFill>
                  <a:prstClr val="white"/>
                </a:solidFill>
                <a:cs typeface="Arial" panose="020B0604020202020204" pitchFamily="34" charset="0"/>
              </a:rPr>
              <a:t>Classified - Internal Only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42DFE2-C203-AA7B-7D94-0816B9E9E5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6762" y="694600"/>
            <a:ext cx="2619230" cy="206928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EC423-73A8-3800-33DE-C347330DE1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4540" y="6651012"/>
            <a:ext cx="2312988" cy="206375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12207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3CC9403-435A-E8FF-430E-2120975A70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98512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06" imgH="608" progId="TCLayout.ActiveDocument.1">
                  <p:embed/>
                </p:oleObj>
              </mc:Choice>
              <mc:Fallback>
                <p:oleObj name="think-cell Slide" r:id="rId1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CC9403-435A-E8FF-430E-2120975A70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942C9-5519-DFD4-4C9B-E76B0AFD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325F2-A068-5D86-BEC9-230FEA5C1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BB396-6EF5-C7E6-33B1-D30801B3E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4C01CCFC-DDDB-4CF5-B057-0A3F5717074A}" type="datetimeFigureOut">
              <a:rPr lang="en-IN" smtClean="0"/>
              <a:pPr/>
              <a:t>19-09-2024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E0066-8684-9DF4-3CA3-116D75BC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C5EC2-6A14-029F-8B65-4340152D5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90ADD4C9-5A81-49B2-81B2-662D1CA67F9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CF8C8D-B28A-8056-3E18-3615DD98587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100" y="6515100"/>
            <a:ext cx="12303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Classified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6629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5" Type="http://schemas.openxmlformats.org/officeDocument/2006/relationships/chart" Target="../charts/chart1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36CF-2C21-E009-0C7E-A146C113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924DC6B0-F2B0-BE6B-FCE6-B944CAA47DC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4DC6B0-F2B0-BE6B-FCE6-B944CAA47D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BB2E7CF-6BC6-3773-999A-802129F1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67" y="53142"/>
            <a:ext cx="11268470" cy="574049"/>
          </a:xfrm>
        </p:spPr>
        <p:txBody>
          <a:bodyPr vert="horz">
            <a:noAutofit/>
          </a:bodyPr>
          <a:lstStyle/>
          <a:p>
            <a:r>
              <a:rPr lang="en-GB" sz="1400" dirty="0"/>
              <a:t>Groceries X Silver</a:t>
            </a:r>
            <a:endParaRPr lang="en-IN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C5B096-A4EC-483F-9393-1CCBB3326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D69DE0-3FD5-40B4-BBA3-268E68A231D9}" type="slidenum"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0A768-48EA-D499-F6C8-81C71916E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 panose="020B0604020202020204" pitchFamily="34" charset="0"/>
              </a:rPr>
              <a:t>Classified - Internal Only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DD5552-D68F-4518-D815-3B10351FD703}"/>
              </a:ext>
            </a:extLst>
          </p:cNvPr>
          <p:cNvSpPr/>
          <p:nvPr/>
        </p:nvSpPr>
        <p:spPr>
          <a:xfrm>
            <a:off x="9956800" y="713540"/>
            <a:ext cx="2235200" cy="20723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GT Groceries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2D9E57A2-F98C-7388-120C-EA3E57534FE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-4763" y="6651625"/>
            <a:ext cx="23129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0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Source: Internal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F92E6CB-EA24-E1A9-ACCE-17FB124012D2}"/>
              </a:ext>
            </a:extLst>
          </p:cNvPr>
          <p:cNvGraphicFramePr/>
          <p:nvPr/>
        </p:nvGraphicFramePr>
        <p:xfrm>
          <a:off x="288628" y="1079378"/>
          <a:ext cx="11814329" cy="5224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7F104B25-2A5B-8F7E-0AA7-AA3D435521EC}"/>
              </a:ext>
            </a:extLst>
          </p:cNvPr>
          <p:cNvSpPr/>
          <p:nvPr/>
        </p:nvSpPr>
        <p:spPr>
          <a:xfrm>
            <a:off x="9602349" y="5778622"/>
            <a:ext cx="2264400" cy="2548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Avg Monthly Cust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16D412-910A-8392-DEB5-DA99A57D7D5E}"/>
              </a:ext>
            </a:extLst>
          </p:cNvPr>
          <p:cNvSpPr/>
          <p:nvPr/>
        </p:nvSpPr>
        <p:spPr>
          <a:xfrm>
            <a:off x="742027" y="1079373"/>
            <a:ext cx="2264400" cy="2548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Velocity (Avg Vol per Cust)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81B78-6E45-4B2A-1D0A-76AA031448B8}"/>
              </a:ext>
            </a:extLst>
          </p:cNvPr>
          <p:cNvSpPr/>
          <p:nvPr/>
        </p:nvSpPr>
        <p:spPr>
          <a:xfrm>
            <a:off x="712289" y="5842298"/>
            <a:ext cx="2264309" cy="2548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Bubble Size – Vol FY 23 UC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535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Nova</vt:lpstr>
      <vt:lpstr>Calibri</vt:lpstr>
      <vt:lpstr>2_Office Theme</vt:lpstr>
      <vt:lpstr>think-cell Slide</vt:lpstr>
      <vt:lpstr>Groceries X Silver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DP IT</dc:creator>
  <cp:lastModifiedBy>DP IT</cp:lastModifiedBy>
  <cp:revision>1</cp:revision>
  <dcterms:created xsi:type="dcterms:W3CDTF">2024-09-19T06:10:39Z</dcterms:created>
  <dcterms:modified xsi:type="dcterms:W3CDTF">2024-09-19T06:11:13Z</dcterms:modified>
</cp:coreProperties>
</file>