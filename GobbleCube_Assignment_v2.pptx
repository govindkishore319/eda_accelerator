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147376947" r:id="rId3"/>
    <p:sldId id="2147477179" r:id="rId4"/>
    <p:sldId id="2147477387" r:id="rId5"/>
    <p:sldId id="2147477392" r:id="rId6"/>
    <p:sldId id="2147477393" r:id="rId7"/>
    <p:sldId id="2147477398" r:id="rId8"/>
    <p:sldId id="2147477394" r:id="rId9"/>
    <p:sldId id="2147477395" r:id="rId10"/>
    <p:sldId id="2147477396" r:id="rId11"/>
    <p:sldId id="21474773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/>
      <dgm:spPr>
        <a:xfrm>
          <a:off x="3535" y="224488"/>
          <a:ext cx="3447370" cy="576000"/>
        </a:xfrm>
        <a:prstGeom prst="rect">
          <a:avLst/>
        </a:prstGeom>
        <a:solidFill>
          <a:srgbClr val="1CADE4"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b="1" dirty="0">
              <a:solidFill>
                <a:sysClr val="window" lastClr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 #1</a:t>
          </a: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4C8BFA56-3F75-4CAD-90A3-2F214D699322}">
      <dgm:prSet phldrT="[Text]"/>
      <dgm:spPr>
        <a:xfrm>
          <a:off x="3535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Rule-based matching</a:t>
          </a:r>
        </a:p>
      </dgm:t>
    </dgm:pt>
    <dgm:pt modelId="{9A6E3B20-A734-4412-84CF-0134D93D4B28}" type="parTrans" cxnId="{4CD5FCDD-1F8A-43A3-BD77-CBE3B3864C41}">
      <dgm:prSet/>
      <dgm:spPr/>
      <dgm:t>
        <a:bodyPr/>
        <a:lstStyle/>
        <a:p>
          <a:endParaRPr lang="en-US"/>
        </a:p>
      </dgm:t>
    </dgm:pt>
    <dgm:pt modelId="{7B50916F-B8BA-427F-B9F0-A301E54D7FB3}" type="sibTrans" cxnId="{4CD5FCDD-1F8A-43A3-BD77-CBE3B3864C41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/>
      <dgm:spPr>
        <a:xfrm>
          <a:off x="3933537" y="224488"/>
          <a:ext cx="3447370" cy="576000"/>
        </a:xfrm>
        <a:prstGeom prst="rect">
          <a:avLst/>
        </a:prstGeom>
        <a:solidFill>
          <a:srgbClr val="1CADE4"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b="1" dirty="0">
              <a:solidFill>
                <a:sysClr val="window" lastClr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 #2</a:t>
          </a: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611C3B18-07F8-4A66-9682-97E24AEF6014}">
      <dgm:prSet phldrT="[Text]"/>
      <dgm:spPr>
        <a:xfrm>
          <a:off x="3933537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TF-IDF Matching</a:t>
          </a:r>
        </a:p>
      </dgm:t>
    </dgm:pt>
    <dgm:pt modelId="{5940BF2D-F08A-4150-9A86-173D9242DE8C}" type="parTrans" cxnId="{D5D61B4C-1312-427C-BDCC-013237D8A488}">
      <dgm:prSet/>
      <dgm:spPr/>
      <dgm:t>
        <a:bodyPr/>
        <a:lstStyle/>
        <a:p>
          <a:endParaRPr lang="en-US"/>
        </a:p>
      </dgm:t>
    </dgm:pt>
    <dgm:pt modelId="{477660C6-2B6D-4FB8-B9A3-D555E2082C2A}" type="sibTrans" cxnId="{D5D61B4C-1312-427C-BDCC-013237D8A488}">
      <dgm:prSet/>
      <dgm:spPr/>
      <dgm:t>
        <a:bodyPr/>
        <a:lstStyle/>
        <a:p>
          <a:endParaRPr lang="en-US"/>
        </a:p>
      </dgm:t>
    </dgm:pt>
    <dgm:pt modelId="{DA5DFAD8-E443-4F53-9341-A0903BBBD378}">
      <dgm:prSet phldrT="[Text]"/>
      <dgm:spPr>
        <a:xfrm>
          <a:off x="7863539" y="224488"/>
          <a:ext cx="3447370" cy="576000"/>
        </a:xfrm>
        <a:prstGeom prst="rect">
          <a:avLst/>
        </a:prstGeom>
        <a:solidFill>
          <a:srgbClr val="3E8853"/>
        </a:solidFill>
        <a:ln w="15875" cap="flat" cmpd="sng" algn="ctr">
          <a:solidFill>
            <a:srgbClr val="1CADE4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b="1" dirty="0">
              <a:solidFill>
                <a:sysClr val="window" lastClr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 #3</a:t>
          </a:r>
        </a:p>
      </dgm:t>
    </dgm:pt>
    <dgm:pt modelId="{F6012B3B-01B0-4E7C-A363-0177B95D3DD8}" type="parTrans" cxnId="{0073D4C3-F488-4F79-B637-186FAECF6BAD}">
      <dgm:prSet/>
      <dgm:spPr/>
      <dgm:t>
        <a:bodyPr/>
        <a:lstStyle/>
        <a:p>
          <a:endParaRPr lang="en-US"/>
        </a:p>
      </dgm:t>
    </dgm:pt>
    <dgm:pt modelId="{76D9F54E-47B3-4FE0-B465-AD673964072E}" type="sibTrans" cxnId="{0073D4C3-F488-4F79-B637-186FAECF6BAD}">
      <dgm:prSet/>
      <dgm:spPr/>
      <dgm:t>
        <a:bodyPr/>
        <a:lstStyle/>
        <a:p>
          <a:endParaRPr lang="en-US"/>
        </a:p>
      </dgm:t>
    </dgm:pt>
    <dgm:pt modelId="{6EE89B4E-BAED-4A90-B29D-70AF11256801}">
      <dgm:prSet phldrT="[Text]"/>
      <dgm:spPr>
        <a:xfrm>
          <a:off x="7863539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Semantic Embedding with Weighted Similarity Score</a:t>
          </a:r>
        </a:p>
      </dgm:t>
    </dgm:pt>
    <dgm:pt modelId="{39BF20C7-31E5-452B-8EA2-17224A13C7FB}" type="parTrans" cxnId="{CA949A5F-9945-4C59-A233-D70AFFF70BDA}">
      <dgm:prSet/>
      <dgm:spPr/>
      <dgm:t>
        <a:bodyPr/>
        <a:lstStyle/>
        <a:p>
          <a:endParaRPr lang="en-US"/>
        </a:p>
      </dgm:t>
    </dgm:pt>
    <dgm:pt modelId="{E71503C3-CFB7-4144-AD9F-7A42A87A3A6B}" type="sibTrans" cxnId="{CA949A5F-9945-4C59-A233-D70AFFF70BDA}">
      <dgm:prSet/>
      <dgm:spPr/>
      <dgm:t>
        <a:bodyPr/>
        <a:lstStyle/>
        <a:p>
          <a:endParaRPr lang="en-US"/>
        </a:p>
      </dgm:t>
    </dgm:pt>
    <dgm:pt modelId="{FB4405AA-F1EF-455A-8442-21B0E19F6B3F}">
      <dgm:prSet/>
      <dgm:spPr>
        <a:xfrm>
          <a:off x="3535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Discarded- why?</a:t>
          </a:r>
        </a:p>
      </dgm:t>
    </dgm:pt>
    <dgm:pt modelId="{261A5856-BFD6-4F3B-8D40-D1A57E2D2AD9}" type="parTrans" cxnId="{C8174203-C7A9-4D1B-BC8A-4923B5D1FE8F}">
      <dgm:prSet/>
      <dgm:spPr/>
      <dgm:t>
        <a:bodyPr/>
        <a:lstStyle/>
        <a:p>
          <a:endParaRPr lang="en-IN"/>
        </a:p>
      </dgm:t>
    </dgm:pt>
    <dgm:pt modelId="{CB3D656A-8FCC-4BAB-AA7B-D91095B3104F}" type="sibTrans" cxnId="{C8174203-C7A9-4D1B-BC8A-4923B5D1FE8F}">
      <dgm:prSet/>
      <dgm:spPr/>
      <dgm:t>
        <a:bodyPr/>
        <a:lstStyle/>
        <a:p>
          <a:endParaRPr lang="en-IN"/>
        </a:p>
      </dgm:t>
    </dgm:pt>
    <dgm:pt modelId="{8E067686-0548-4723-A691-04B4906DD1C8}">
      <dgm:prSet phldrT="[Text]"/>
      <dgm:spPr>
        <a:xfrm>
          <a:off x="3535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Exact match on title, brand and grammage</a:t>
          </a:r>
        </a:p>
      </dgm:t>
    </dgm:pt>
    <dgm:pt modelId="{61CA3868-7EE7-4643-907D-6BBEC987283A}" type="parTrans" cxnId="{98AB94BC-903C-433B-887D-8B343622F9C6}">
      <dgm:prSet/>
      <dgm:spPr/>
      <dgm:t>
        <a:bodyPr/>
        <a:lstStyle/>
        <a:p>
          <a:endParaRPr lang="en-IN"/>
        </a:p>
      </dgm:t>
    </dgm:pt>
    <dgm:pt modelId="{61928713-1301-481B-9C7D-D7240C60DB0D}" type="sibTrans" cxnId="{98AB94BC-903C-433B-887D-8B343622F9C6}">
      <dgm:prSet/>
      <dgm:spPr/>
      <dgm:t>
        <a:bodyPr/>
        <a:lstStyle/>
        <a:p>
          <a:endParaRPr lang="en-IN"/>
        </a:p>
      </dgm:t>
    </dgm:pt>
    <dgm:pt modelId="{7497AC08-FEEA-41E5-A4E1-5F918F007997}">
      <dgm:prSet/>
      <dgm:spPr>
        <a:xfrm>
          <a:off x="3535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Lack of scalability and high maintenance required</a:t>
          </a:r>
        </a:p>
      </dgm:t>
    </dgm:pt>
    <dgm:pt modelId="{22CFD178-4C81-4477-9EB4-742F37A8E399}" type="parTrans" cxnId="{AF1919F0-26C9-4ED7-B083-AC498CAA3554}">
      <dgm:prSet/>
      <dgm:spPr/>
      <dgm:t>
        <a:bodyPr/>
        <a:lstStyle/>
        <a:p>
          <a:endParaRPr lang="en-IN"/>
        </a:p>
      </dgm:t>
    </dgm:pt>
    <dgm:pt modelId="{34CF15CC-3DDC-43EF-82C8-7C101B0A7BF2}" type="sibTrans" cxnId="{AF1919F0-26C9-4ED7-B083-AC498CAA3554}">
      <dgm:prSet/>
      <dgm:spPr/>
      <dgm:t>
        <a:bodyPr/>
        <a:lstStyle/>
        <a:p>
          <a:endParaRPr lang="en-IN"/>
        </a:p>
      </dgm:t>
    </dgm:pt>
    <dgm:pt modelId="{0200089B-82B7-44C2-8BE9-391A83785CDD}">
      <dgm:prSet phldrT="[Text]"/>
      <dgm:spPr>
        <a:xfrm>
          <a:off x="3933537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Used for text matching</a:t>
          </a:r>
        </a:p>
      </dgm:t>
    </dgm:pt>
    <dgm:pt modelId="{4E0FDA27-CA99-4D4D-B101-615DE5998A35}" type="parTrans" cxnId="{9E40C8FD-7854-48F9-A28D-9C5A7620F1CC}">
      <dgm:prSet/>
      <dgm:spPr/>
      <dgm:t>
        <a:bodyPr/>
        <a:lstStyle/>
        <a:p>
          <a:endParaRPr lang="en-IN"/>
        </a:p>
      </dgm:t>
    </dgm:pt>
    <dgm:pt modelId="{1A7DE13C-1041-48F9-AB60-ECBD625D1D47}" type="sibTrans" cxnId="{9E40C8FD-7854-48F9-A28D-9C5A7620F1CC}">
      <dgm:prSet/>
      <dgm:spPr/>
      <dgm:t>
        <a:bodyPr/>
        <a:lstStyle/>
        <a:p>
          <a:endParaRPr lang="en-IN"/>
        </a:p>
      </dgm:t>
    </dgm:pt>
    <dgm:pt modelId="{6F70CBD0-4903-48D2-8498-8C36873CC71D}">
      <dgm:prSet phldrT="[Text]"/>
      <dgm:spPr>
        <a:xfrm>
          <a:off x="3933537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Discarded- why?</a:t>
          </a:r>
        </a:p>
      </dgm:t>
    </dgm:pt>
    <dgm:pt modelId="{DB3E0E0B-7058-42BB-8B6D-C5546FA354DA}" type="parTrans" cxnId="{2AC7E12D-1949-4141-B8BB-B98504F28AC3}">
      <dgm:prSet/>
      <dgm:spPr/>
      <dgm:t>
        <a:bodyPr/>
        <a:lstStyle/>
        <a:p>
          <a:endParaRPr lang="en-IN"/>
        </a:p>
      </dgm:t>
    </dgm:pt>
    <dgm:pt modelId="{157354EF-4486-49F8-A66E-932788655141}" type="sibTrans" cxnId="{2AC7E12D-1949-4141-B8BB-B98504F28AC3}">
      <dgm:prSet/>
      <dgm:spPr/>
      <dgm:t>
        <a:bodyPr/>
        <a:lstStyle/>
        <a:p>
          <a:endParaRPr lang="en-IN"/>
        </a:p>
      </dgm:t>
    </dgm:pt>
    <dgm:pt modelId="{308EE70E-7DA2-4F78-8179-8741E6EE8535}">
      <dgm:prSet phldrT="[Text]"/>
      <dgm:spPr>
        <a:xfrm>
          <a:off x="3933537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Limited semantic understanding of the product descriptions</a:t>
          </a:r>
        </a:p>
      </dgm:t>
    </dgm:pt>
    <dgm:pt modelId="{18FC4E46-A0B1-4AB7-9F65-F8F132C21499}" type="parTrans" cxnId="{FDB4B530-901F-47DB-8CEC-827FE8477046}">
      <dgm:prSet/>
      <dgm:spPr/>
      <dgm:t>
        <a:bodyPr/>
        <a:lstStyle/>
        <a:p>
          <a:endParaRPr lang="en-IN"/>
        </a:p>
      </dgm:t>
    </dgm:pt>
    <dgm:pt modelId="{F348617E-A581-41D6-9E97-4D6B2FC0AC73}" type="sibTrans" cxnId="{FDB4B530-901F-47DB-8CEC-827FE8477046}">
      <dgm:prSet/>
      <dgm:spPr/>
      <dgm:t>
        <a:bodyPr/>
        <a:lstStyle/>
        <a:p>
          <a:endParaRPr lang="en-IN"/>
        </a:p>
      </dgm:t>
    </dgm:pt>
    <dgm:pt modelId="{41129331-B505-44C4-AAD0-2A06C6A05B8E}">
      <dgm:prSet phldrT="[Text]"/>
      <dgm:spPr>
        <a:xfrm>
          <a:off x="7863539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Used </a:t>
          </a:r>
          <a:r>
            <a:rPr lang="en-US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SentenceTransformer’s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all-MiniLM-L6-v2 model to generate rich, contextual embeddings for product descriptions</a:t>
          </a:r>
        </a:p>
      </dgm:t>
    </dgm:pt>
    <dgm:pt modelId="{0A9B0778-FF9D-4DE2-BF2E-6FDC3A581258}" type="parTrans" cxnId="{2189418C-5256-49C1-BEE4-79630075B5F2}">
      <dgm:prSet/>
      <dgm:spPr/>
      <dgm:t>
        <a:bodyPr/>
        <a:lstStyle/>
        <a:p>
          <a:endParaRPr lang="en-IN"/>
        </a:p>
      </dgm:t>
    </dgm:pt>
    <dgm:pt modelId="{41EF23E3-194A-4F32-AF57-CE226ADCA5F4}" type="sibTrans" cxnId="{2189418C-5256-49C1-BEE4-79630075B5F2}">
      <dgm:prSet/>
      <dgm:spPr/>
      <dgm:t>
        <a:bodyPr/>
        <a:lstStyle/>
        <a:p>
          <a:endParaRPr lang="en-IN"/>
        </a:p>
      </dgm:t>
    </dgm:pt>
    <dgm:pt modelId="{B4C46D37-43E5-4CB5-AC9C-4228F2D66FD4}">
      <dgm:prSet phldrT="[Text]"/>
      <dgm:spPr>
        <a:xfrm>
          <a:off x="7863539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Used Weighted similarity scoring mechanism</a:t>
          </a:r>
        </a:p>
      </dgm:t>
    </dgm:pt>
    <dgm:pt modelId="{254791CA-F337-4503-88D0-1FDB9C23C3B3}" type="parTrans" cxnId="{BC99A2E8-1699-49B4-98D5-9C33313EF72F}">
      <dgm:prSet/>
      <dgm:spPr/>
      <dgm:t>
        <a:bodyPr/>
        <a:lstStyle/>
        <a:p>
          <a:endParaRPr lang="en-IN"/>
        </a:p>
      </dgm:t>
    </dgm:pt>
    <dgm:pt modelId="{2EA796F2-85AC-4562-AEB1-0A2018485CB6}" type="sibTrans" cxnId="{BC99A2E8-1699-49B4-98D5-9C33313EF72F}">
      <dgm:prSet/>
      <dgm:spPr/>
      <dgm:t>
        <a:bodyPr/>
        <a:lstStyle/>
        <a:p>
          <a:endParaRPr lang="en-IN"/>
        </a:p>
      </dgm:t>
    </dgm:pt>
    <dgm:pt modelId="{03273D1A-5947-4E0E-9CB9-7AA938FE34AA}">
      <dgm:prSet phldrT="[Text]"/>
      <dgm:spPr>
        <a:xfrm>
          <a:off x="7863539" y="800488"/>
          <a:ext cx="3447370" cy="3467278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Selected</a:t>
          </a:r>
        </a:p>
      </dgm:t>
    </dgm:pt>
    <dgm:pt modelId="{4B5B1F77-F6BD-4A69-8BAE-939E89199DF4}" type="parTrans" cxnId="{3A218D43-32BF-425B-9C69-3ED1B37FD27B}">
      <dgm:prSet/>
      <dgm:spPr/>
      <dgm:t>
        <a:bodyPr/>
        <a:lstStyle/>
        <a:p>
          <a:endParaRPr lang="en-IN"/>
        </a:p>
      </dgm:t>
    </dgm:pt>
    <dgm:pt modelId="{086DDEA7-597B-4E78-B225-2C056318DE77}" type="sibTrans" cxnId="{3A218D43-32BF-425B-9C69-3ED1B37FD27B}">
      <dgm:prSet/>
      <dgm:spPr/>
      <dgm:t>
        <a:bodyPr/>
        <a:lstStyle/>
        <a:p>
          <a:endParaRPr lang="en-IN"/>
        </a:p>
      </dgm:t>
    </dgm:pt>
    <dgm:pt modelId="{9E96E4E0-0D3B-45EE-B60F-07F0F1CB4C50}">
      <dgm:prSet phldrT="[Text]"/>
      <dgm:spPr>
        <a:xfrm>
          <a:off x="3933537" y="800488"/>
          <a:ext cx="3447370" cy="3467278"/>
        </a:xfr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Very low similarity score: (&lt;0.6 for </a:t>
          </a:r>
          <a:r>
            <a:rPr lang="en-US" b="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Zepto</a:t>
          </a:r>
          <a:r>
            <a:rPr lang="en-US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and not a good result even for </a:t>
          </a:r>
          <a:r>
            <a:rPr lang="en-US" b="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instamart</a:t>
          </a:r>
          <a:r>
            <a:rPr lang="en-US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) </a:t>
          </a:r>
        </a:p>
      </dgm:t>
    </dgm:pt>
    <dgm:pt modelId="{833F133A-023A-407B-B08F-475C074776B8}" type="parTrans" cxnId="{6075E98F-96BE-4BF5-B90D-8F3A68AC0A48}">
      <dgm:prSet/>
      <dgm:spPr/>
      <dgm:t>
        <a:bodyPr/>
        <a:lstStyle/>
        <a:p>
          <a:endParaRPr lang="en-IN"/>
        </a:p>
      </dgm:t>
    </dgm:pt>
    <dgm:pt modelId="{8C65C99E-4594-4762-A76F-5B4B40D239E2}" type="sibTrans" cxnId="{6075E98F-96BE-4BF5-B90D-8F3A68AC0A48}">
      <dgm:prSet/>
      <dgm:spPr/>
      <dgm:t>
        <a:bodyPr/>
        <a:lstStyle/>
        <a:p>
          <a:endParaRPr lang="en-IN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</dgm:pt>
    <dgm:pt modelId="{4E69B62D-7E76-4E06-9330-583771E53BDE}" type="pres">
      <dgm:prSet presAssocID="{6857B86A-DEC1-407C-A1BB-5BF9ACCBCA6A}" presName="composite" presStyleCnt="0"/>
      <dgm:spPr/>
    </dgm:pt>
    <dgm:pt modelId="{F0C1B2C7-0B23-4FE8-AB0F-5877B88532DB}" type="pres">
      <dgm:prSet presAssocID="{6857B86A-DEC1-407C-A1BB-5BF9ACCBCA6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7CA1487-CDD9-4364-92F6-A11DBDAFE16C}" type="pres">
      <dgm:prSet presAssocID="{6857B86A-DEC1-407C-A1BB-5BF9ACCBCA6A}" presName="desTx" presStyleLbl="alignAccFollowNode1" presStyleIdx="0" presStyleCnt="3">
        <dgm:presLayoutVars>
          <dgm:bulletEnabled val="1"/>
        </dgm:presLayoutVars>
      </dgm:prSet>
      <dgm:spPr/>
    </dgm:pt>
    <dgm:pt modelId="{3FA24A66-31D3-4A69-B628-8BE88627B97D}" type="pres">
      <dgm:prSet presAssocID="{F087F24E-A7D7-4DCE-B2A7-9B941289621A}" presName="space" presStyleCnt="0"/>
      <dgm:spPr/>
    </dgm:pt>
    <dgm:pt modelId="{3B158D6E-E3AA-49BB-988A-758B59ED8F3B}" type="pres">
      <dgm:prSet presAssocID="{ABA77F75-8642-4931-8D7E-BE6C6DB9940D}" presName="composite" presStyleCnt="0"/>
      <dgm:spPr/>
    </dgm:pt>
    <dgm:pt modelId="{055A5EAB-EAE0-4501-8649-31F112FF9AD5}" type="pres">
      <dgm:prSet presAssocID="{ABA77F75-8642-4931-8D7E-BE6C6DB9940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4FD5043-5612-43C5-B6AE-CCD431549399}" type="pres">
      <dgm:prSet presAssocID="{ABA77F75-8642-4931-8D7E-BE6C6DB9940D}" presName="desTx" presStyleLbl="alignAccFollowNode1" presStyleIdx="1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3E20F600-AFBC-427F-8295-F096F694BC17}" type="pres">
      <dgm:prSet presAssocID="{1A095211-ADB0-42CA-9F24-F1BC942872F3}" presName="space" presStyleCnt="0"/>
      <dgm:spPr/>
    </dgm:pt>
    <dgm:pt modelId="{173DA3A6-F783-42D4-9ED8-FD330979BCEA}" type="pres">
      <dgm:prSet presAssocID="{DA5DFAD8-E443-4F53-9341-A0903BBBD378}" presName="composite" presStyleCnt="0"/>
      <dgm:spPr/>
    </dgm:pt>
    <dgm:pt modelId="{23D06E36-F688-4B37-8BB8-73015E665B0E}" type="pres">
      <dgm:prSet presAssocID="{DA5DFAD8-E443-4F53-9341-A0903BBBD37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A81ED6A-A7EA-4137-A3DC-D16E79F1B938}" type="pres">
      <dgm:prSet presAssocID="{DA5DFAD8-E443-4F53-9341-A0903BBBD37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C8174203-C7A9-4D1B-BC8A-4923B5D1FE8F}" srcId="{6857B86A-DEC1-407C-A1BB-5BF9ACCBCA6A}" destId="{FB4405AA-F1EF-455A-8442-21B0E19F6B3F}" srcOrd="2" destOrd="0" parTransId="{261A5856-BFD6-4F3B-8D40-D1A57E2D2AD9}" sibTransId="{CB3D656A-8FCC-4BAB-AA7B-D91095B3104F}"/>
    <dgm:cxn modelId="{4F1A860F-3210-46C7-8F37-296AA0F81843}" type="presOf" srcId="{03273D1A-5947-4E0E-9CB9-7AA938FE34AA}" destId="{EA81ED6A-A7EA-4137-A3DC-D16E79F1B938}" srcOrd="0" destOrd="3" presId="urn:microsoft.com/office/officeart/2005/8/layout/hList1"/>
    <dgm:cxn modelId="{980D9C1C-1F66-4BFA-8441-4953A463DB3A}" type="presOf" srcId="{9E96E4E0-0D3B-45EE-B60F-07F0F1CB4C50}" destId="{E4FD5043-5612-43C5-B6AE-CCD431549399}" srcOrd="0" destOrd="4" presId="urn:microsoft.com/office/officeart/2005/8/layout/hList1"/>
    <dgm:cxn modelId="{01BD2B2B-EA85-4C18-8B31-BE8775F4E3D8}" type="presOf" srcId="{41129331-B505-44C4-AAD0-2A06C6A05B8E}" destId="{EA81ED6A-A7EA-4137-A3DC-D16E79F1B938}" srcOrd="0" destOrd="1" presId="urn:microsoft.com/office/officeart/2005/8/layout/hList1"/>
    <dgm:cxn modelId="{ECC8162D-63CD-4AA4-A108-75AD17A3C58C}" type="presOf" srcId="{0200089B-82B7-44C2-8BE9-391A83785CDD}" destId="{E4FD5043-5612-43C5-B6AE-CCD431549399}" srcOrd="0" destOrd="1" presId="urn:microsoft.com/office/officeart/2005/8/layout/hList1"/>
    <dgm:cxn modelId="{2AC7E12D-1949-4141-B8BB-B98504F28AC3}" srcId="{ABA77F75-8642-4931-8D7E-BE6C6DB9940D}" destId="{6F70CBD0-4903-48D2-8498-8C36873CC71D}" srcOrd="2" destOrd="0" parTransId="{DB3E0E0B-7058-42BB-8B6D-C5546FA354DA}" sibTransId="{157354EF-4486-49F8-A66E-932788655141}"/>
    <dgm:cxn modelId="{FDB4B530-901F-47DB-8CEC-827FE8477046}" srcId="{ABA77F75-8642-4931-8D7E-BE6C6DB9940D}" destId="{308EE70E-7DA2-4F78-8179-8741E6EE8535}" srcOrd="3" destOrd="0" parTransId="{18FC4E46-A0B1-4AB7-9F65-F8F132C21499}" sibTransId="{F348617E-A581-41D6-9E97-4D6B2FC0AC73}"/>
    <dgm:cxn modelId="{0582D13C-32CD-4C85-9D8C-6D936571341D}" type="presOf" srcId="{8E067686-0548-4723-A691-04B4906DD1C8}" destId="{17CA1487-CDD9-4364-92F6-A11DBDAFE16C}" srcOrd="0" destOrd="1" presId="urn:microsoft.com/office/officeart/2005/8/layout/hList1"/>
    <dgm:cxn modelId="{CA949A5F-9945-4C59-A233-D70AFFF70BDA}" srcId="{DA5DFAD8-E443-4F53-9341-A0903BBBD378}" destId="{6EE89B4E-BAED-4A90-B29D-70AF11256801}" srcOrd="0" destOrd="0" parTransId="{39BF20C7-31E5-452B-8EA2-17224A13C7FB}" sibTransId="{E71503C3-CFB7-4144-AD9F-7A42A87A3A6B}"/>
    <dgm:cxn modelId="{3A218D43-32BF-425B-9C69-3ED1B37FD27B}" srcId="{DA5DFAD8-E443-4F53-9341-A0903BBBD378}" destId="{03273D1A-5947-4E0E-9CB9-7AA938FE34AA}" srcOrd="3" destOrd="0" parTransId="{4B5B1F77-F6BD-4A69-8BAE-939E89199DF4}" sibTransId="{086DDEA7-597B-4E78-B225-2C056318DE77}"/>
    <dgm:cxn modelId="{49328149-E01E-49BD-8050-3954F7957800}" type="presOf" srcId="{B4C46D37-43E5-4CB5-AC9C-4228F2D66FD4}" destId="{EA81ED6A-A7EA-4137-A3DC-D16E79F1B938}" srcOrd="0" destOrd="2" presId="urn:microsoft.com/office/officeart/2005/8/layout/hList1"/>
    <dgm:cxn modelId="{D5D61B4C-1312-427C-BDCC-013237D8A488}" srcId="{ABA77F75-8642-4931-8D7E-BE6C6DB9940D}" destId="{611C3B18-07F8-4A66-9682-97E24AEF6014}" srcOrd="0" destOrd="0" parTransId="{5940BF2D-F08A-4150-9A86-173D9242DE8C}" sibTransId="{477660C6-2B6D-4FB8-B9A3-D555E2082C2A}"/>
    <dgm:cxn modelId="{3F90CF74-F764-442E-9FFD-0AA37F845833}" type="presOf" srcId="{308EE70E-7DA2-4F78-8179-8741E6EE8535}" destId="{E4FD5043-5612-43C5-B6AE-CCD431549399}" srcOrd="0" destOrd="3" presId="urn:microsoft.com/office/officeart/2005/8/layout/hList1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2A048A8A-D3E9-4D78-97F5-CDA37AB1D412}" type="presOf" srcId="{DA5DFAD8-E443-4F53-9341-A0903BBBD378}" destId="{23D06E36-F688-4B37-8BB8-73015E665B0E}" srcOrd="0" destOrd="0" presId="urn:microsoft.com/office/officeart/2005/8/layout/hList1"/>
    <dgm:cxn modelId="{2189418C-5256-49C1-BEE4-79630075B5F2}" srcId="{DA5DFAD8-E443-4F53-9341-A0903BBBD378}" destId="{41129331-B505-44C4-AAD0-2A06C6A05B8E}" srcOrd="1" destOrd="0" parTransId="{0A9B0778-FF9D-4DE2-BF2E-6FDC3A581258}" sibTransId="{41EF23E3-194A-4F32-AF57-CE226ADCA5F4}"/>
    <dgm:cxn modelId="{6075E98F-96BE-4BF5-B90D-8F3A68AC0A48}" srcId="{ABA77F75-8642-4931-8D7E-BE6C6DB9940D}" destId="{9E96E4E0-0D3B-45EE-B60F-07F0F1CB4C50}" srcOrd="4" destOrd="0" parTransId="{833F133A-023A-407B-B08F-475C074776B8}" sibTransId="{8C65C99E-4594-4762-A76F-5B4B40D239E2}"/>
    <dgm:cxn modelId="{4BF1EEA1-6E89-4F91-BAE8-11038685C515}" type="presOf" srcId="{4C8BFA56-3F75-4CAD-90A3-2F214D699322}" destId="{17CA1487-CDD9-4364-92F6-A11DBDAFE16C}" srcOrd="0" destOrd="0" presId="urn:microsoft.com/office/officeart/2005/8/layout/hList1"/>
    <dgm:cxn modelId="{5F12E8B9-000C-441B-B9E7-99ED7A20363B}" type="presOf" srcId="{6857B86A-DEC1-407C-A1BB-5BF9ACCBCA6A}" destId="{F0C1B2C7-0B23-4FE8-AB0F-5877B88532DB}" srcOrd="0" destOrd="0" presId="urn:microsoft.com/office/officeart/2005/8/layout/hList1"/>
    <dgm:cxn modelId="{98AB94BC-903C-433B-887D-8B343622F9C6}" srcId="{6857B86A-DEC1-407C-A1BB-5BF9ACCBCA6A}" destId="{8E067686-0548-4723-A691-04B4906DD1C8}" srcOrd="1" destOrd="0" parTransId="{61CA3868-7EE7-4643-907D-6BBEC987283A}" sibTransId="{61928713-1301-481B-9C7D-D7240C60DB0D}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9DEA1ECA-16BD-4D7F-98D5-09D2C4F86D10}" type="presOf" srcId="{6F70CBD0-4903-48D2-8498-8C36873CC71D}" destId="{E4FD5043-5612-43C5-B6AE-CCD431549399}" srcOrd="0" destOrd="2" presId="urn:microsoft.com/office/officeart/2005/8/layout/hList1"/>
    <dgm:cxn modelId="{9E8636D0-9DD5-4C84-B573-10889AC3693A}" type="presOf" srcId="{FB4405AA-F1EF-455A-8442-21B0E19F6B3F}" destId="{17CA1487-CDD9-4364-92F6-A11DBDAFE16C}" srcOrd="0" destOrd="2" presId="urn:microsoft.com/office/officeart/2005/8/layout/hList1"/>
    <dgm:cxn modelId="{A2D8C9D2-5ACF-45F9-886B-4691D5E1B543}" type="presOf" srcId="{7497AC08-FEEA-41E5-A4E1-5F918F007997}" destId="{17CA1487-CDD9-4364-92F6-A11DBDAFE16C}" srcOrd="0" destOrd="3" presId="urn:microsoft.com/office/officeart/2005/8/layout/hList1"/>
    <dgm:cxn modelId="{4E21C5D3-FA97-4E62-8CC9-01B68E76021E}" type="presOf" srcId="{ABA77F75-8642-4931-8D7E-BE6C6DB9940D}" destId="{055A5EAB-EAE0-4501-8649-31F112FF9AD5}" srcOrd="0" destOrd="0" presId="urn:microsoft.com/office/officeart/2005/8/layout/hList1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BC99A2E8-1699-49B4-98D5-9C33313EF72F}" srcId="{DA5DFAD8-E443-4F53-9341-A0903BBBD378}" destId="{B4C46D37-43E5-4CB5-AC9C-4228F2D66FD4}" srcOrd="2" destOrd="0" parTransId="{254791CA-F337-4503-88D0-1FDB9C23C3B3}" sibTransId="{2EA796F2-85AC-4562-AEB1-0A2018485CB6}"/>
    <dgm:cxn modelId="{58D887E9-04DA-4285-827F-DA6F12BD080E}" type="presOf" srcId="{611C3B18-07F8-4A66-9682-97E24AEF6014}" destId="{E4FD5043-5612-43C5-B6AE-CCD431549399}" srcOrd="0" destOrd="0" presId="urn:microsoft.com/office/officeart/2005/8/layout/hList1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AF1919F0-26C9-4ED7-B083-AC498CAA3554}" srcId="{6857B86A-DEC1-407C-A1BB-5BF9ACCBCA6A}" destId="{7497AC08-FEEA-41E5-A4E1-5F918F007997}" srcOrd="3" destOrd="0" parTransId="{22CFD178-4C81-4477-9EB4-742F37A8E399}" sibTransId="{34CF15CC-3DDC-43EF-82C8-7C101B0A7BF2}"/>
    <dgm:cxn modelId="{765D4AFC-C3A4-4F8B-A000-988DC6C44800}" type="presOf" srcId="{6EE89B4E-BAED-4A90-B29D-70AF11256801}" destId="{EA81ED6A-A7EA-4137-A3DC-D16E79F1B938}" srcOrd="0" destOrd="0" presId="urn:microsoft.com/office/officeart/2005/8/layout/hList1"/>
    <dgm:cxn modelId="{9E40C8FD-7854-48F9-A28D-9C5A7620F1CC}" srcId="{ABA77F75-8642-4931-8D7E-BE6C6DB9940D}" destId="{0200089B-82B7-44C2-8BE9-391A83785CDD}" srcOrd="1" destOrd="0" parTransId="{4E0FDA27-CA99-4D4D-B101-615DE5998A35}" sibTransId="{1A7DE13C-1041-48F9-AB60-ECBD625D1D47}"/>
    <dgm:cxn modelId="{1F4D79B9-0A03-4486-BB92-D4BA991ED70D}" type="presParOf" srcId="{DE3F77CF-6A8C-4783-A2CE-00E88C4199CB}" destId="{4E69B62D-7E76-4E06-9330-583771E53BDE}" srcOrd="0" destOrd="0" presId="urn:microsoft.com/office/officeart/2005/8/layout/hList1"/>
    <dgm:cxn modelId="{EFFE150E-7CB3-4A38-AC57-820444F8E7BA}" type="presParOf" srcId="{4E69B62D-7E76-4E06-9330-583771E53BDE}" destId="{F0C1B2C7-0B23-4FE8-AB0F-5877B88532DB}" srcOrd="0" destOrd="0" presId="urn:microsoft.com/office/officeart/2005/8/layout/hList1"/>
    <dgm:cxn modelId="{332F5817-5A55-4FC1-BA35-DBB23A0AD13C}" type="presParOf" srcId="{4E69B62D-7E76-4E06-9330-583771E53BDE}" destId="{17CA1487-CDD9-4364-92F6-A11DBDAFE16C}" srcOrd="1" destOrd="0" presId="urn:microsoft.com/office/officeart/2005/8/layout/hList1"/>
    <dgm:cxn modelId="{697E9D8E-F51C-4123-B62B-291815C4E7C1}" type="presParOf" srcId="{DE3F77CF-6A8C-4783-A2CE-00E88C4199CB}" destId="{3FA24A66-31D3-4A69-B628-8BE88627B97D}" srcOrd="1" destOrd="0" presId="urn:microsoft.com/office/officeart/2005/8/layout/hList1"/>
    <dgm:cxn modelId="{A09CCE6C-77C7-4B5A-B9DA-7E705F8B286E}" type="presParOf" srcId="{DE3F77CF-6A8C-4783-A2CE-00E88C4199CB}" destId="{3B158D6E-E3AA-49BB-988A-758B59ED8F3B}" srcOrd="2" destOrd="0" presId="urn:microsoft.com/office/officeart/2005/8/layout/hList1"/>
    <dgm:cxn modelId="{817F5423-5421-4F7E-968E-B3D3A624058B}" type="presParOf" srcId="{3B158D6E-E3AA-49BB-988A-758B59ED8F3B}" destId="{055A5EAB-EAE0-4501-8649-31F112FF9AD5}" srcOrd="0" destOrd="0" presId="urn:microsoft.com/office/officeart/2005/8/layout/hList1"/>
    <dgm:cxn modelId="{63113D3E-83F3-4A52-BAD6-246138FEC15C}" type="presParOf" srcId="{3B158D6E-E3AA-49BB-988A-758B59ED8F3B}" destId="{E4FD5043-5612-43C5-B6AE-CCD431549399}" srcOrd="1" destOrd="0" presId="urn:microsoft.com/office/officeart/2005/8/layout/hList1"/>
    <dgm:cxn modelId="{6DF49720-E4F0-4625-B768-1FADCBFE92E0}" type="presParOf" srcId="{DE3F77CF-6A8C-4783-A2CE-00E88C4199CB}" destId="{3E20F600-AFBC-427F-8295-F096F694BC17}" srcOrd="3" destOrd="0" presId="urn:microsoft.com/office/officeart/2005/8/layout/hList1"/>
    <dgm:cxn modelId="{C0F7FF12-72ED-4C65-8A42-67FCEE3903CF}" type="presParOf" srcId="{DE3F77CF-6A8C-4783-A2CE-00E88C4199CB}" destId="{173DA3A6-F783-42D4-9ED8-FD330979BCEA}" srcOrd="4" destOrd="0" presId="urn:microsoft.com/office/officeart/2005/8/layout/hList1"/>
    <dgm:cxn modelId="{67AEDA95-4E81-49EB-9136-C42824BC288A}" type="presParOf" srcId="{173DA3A6-F783-42D4-9ED8-FD330979BCEA}" destId="{23D06E36-F688-4B37-8BB8-73015E665B0E}" srcOrd="0" destOrd="0" presId="urn:microsoft.com/office/officeart/2005/8/layout/hList1"/>
    <dgm:cxn modelId="{190091E1-69E5-482F-89E9-B5A6338D6BCD}" type="presParOf" srcId="{173DA3A6-F783-42D4-9ED8-FD330979BCEA}" destId="{EA81ED6A-A7EA-4137-A3DC-D16E79F1B9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B2C7-0B23-4FE8-AB0F-5877B88532DB}">
      <dsp:nvSpPr>
        <dsp:cNvPr id="0" name=""/>
        <dsp:cNvSpPr/>
      </dsp:nvSpPr>
      <dsp:spPr>
        <a:xfrm>
          <a:off x="3535" y="233710"/>
          <a:ext cx="3447370" cy="576000"/>
        </a:xfrm>
        <a:prstGeom prst="rect">
          <a:avLst/>
        </a:prstGeom>
        <a:solidFill>
          <a:srgbClr val="1CADE4"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" lastClr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 #1</a:t>
          </a:r>
        </a:p>
      </dsp:txBody>
      <dsp:txXfrm>
        <a:off x="3535" y="233710"/>
        <a:ext cx="3447370" cy="576000"/>
      </dsp:txXfrm>
    </dsp:sp>
    <dsp:sp modelId="{17CA1487-CDD9-4364-92F6-A11DBDAFE16C}">
      <dsp:nvSpPr>
        <dsp:cNvPr id="0" name=""/>
        <dsp:cNvSpPr/>
      </dsp:nvSpPr>
      <dsp:spPr>
        <a:xfrm>
          <a:off x="3535" y="809710"/>
          <a:ext cx="3447370" cy="3448835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Rule-based matching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Exact match on title, brand and grammage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Discarded- why?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Lack of scalability and high maintenance required</a:t>
          </a:r>
        </a:p>
      </dsp:txBody>
      <dsp:txXfrm>
        <a:off x="3535" y="809710"/>
        <a:ext cx="3447370" cy="3448835"/>
      </dsp:txXfrm>
    </dsp:sp>
    <dsp:sp modelId="{055A5EAB-EAE0-4501-8649-31F112FF9AD5}">
      <dsp:nvSpPr>
        <dsp:cNvPr id="0" name=""/>
        <dsp:cNvSpPr/>
      </dsp:nvSpPr>
      <dsp:spPr>
        <a:xfrm>
          <a:off x="3933537" y="233710"/>
          <a:ext cx="3447370" cy="576000"/>
        </a:xfrm>
        <a:prstGeom prst="rect">
          <a:avLst/>
        </a:prstGeom>
        <a:solidFill>
          <a:srgbClr val="1CADE4"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" lastClr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 #2</a:t>
          </a:r>
        </a:p>
      </dsp:txBody>
      <dsp:txXfrm>
        <a:off x="3933537" y="233710"/>
        <a:ext cx="3447370" cy="576000"/>
      </dsp:txXfrm>
    </dsp:sp>
    <dsp:sp modelId="{E4FD5043-5612-43C5-B6AE-CCD431549399}">
      <dsp:nvSpPr>
        <dsp:cNvPr id="0" name=""/>
        <dsp:cNvSpPr/>
      </dsp:nvSpPr>
      <dsp:spPr>
        <a:xfrm>
          <a:off x="3933537" y="809710"/>
          <a:ext cx="3447370" cy="3448835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TF-IDF Matching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Used for text matching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Discarded- why?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Limited semantic understanding of the product descriptions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Very low similarity score: (&lt;0.6 for </a:t>
          </a:r>
          <a:r>
            <a:rPr lang="en-US" sz="2000" b="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Zepto</a:t>
          </a:r>
          <a:r>
            <a:rPr lang="en-US" sz="20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and not a good result even for </a:t>
          </a:r>
          <a:r>
            <a:rPr lang="en-US" sz="2000" b="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instamart</a:t>
          </a:r>
          <a:r>
            <a:rPr lang="en-US" sz="20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) </a:t>
          </a:r>
        </a:p>
      </dsp:txBody>
      <dsp:txXfrm>
        <a:off x="3933537" y="809710"/>
        <a:ext cx="3447370" cy="3448835"/>
      </dsp:txXfrm>
    </dsp:sp>
    <dsp:sp modelId="{23D06E36-F688-4B37-8BB8-73015E665B0E}">
      <dsp:nvSpPr>
        <dsp:cNvPr id="0" name=""/>
        <dsp:cNvSpPr/>
      </dsp:nvSpPr>
      <dsp:spPr>
        <a:xfrm>
          <a:off x="7863539" y="233710"/>
          <a:ext cx="3447370" cy="576000"/>
        </a:xfrm>
        <a:prstGeom prst="rect">
          <a:avLst/>
        </a:prstGeom>
        <a:solidFill>
          <a:srgbClr val="3E8853"/>
        </a:solidFill>
        <a:ln w="15875" cap="flat" cmpd="sng" algn="ctr">
          <a:solidFill>
            <a:srgbClr val="1CADE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" lastClr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Solution #3</a:t>
          </a:r>
        </a:p>
      </dsp:txBody>
      <dsp:txXfrm>
        <a:off x="7863539" y="233710"/>
        <a:ext cx="3447370" cy="576000"/>
      </dsp:txXfrm>
    </dsp:sp>
    <dsp:sp modelId="{EA81ED6A-A7EA-4137-A3DC-D16E79F1B938}">
      <dsp:nvSpPr>
        <dsp:cNvPr id="0" name=""/>
        <dsp:cNvSpPr/>
      </dsp:nvSpPr>
      <dsp:spPr>
        <a:xfrm>
          <a:off x="7863539" y="809710"/>
          <a:ext cx="3447370" cy="3448835"/>
        </a:xfrm>
        <a:prstGeom prst="rect">
          <a:avLst/>
        </a:prstGeom>
        <a:solidFill>
          <a:srgbClr val="1CADE4">
            <a:alpha val="90000"/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rgbClr val="1CADE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Semantic Embedding with Weighted Similarity Score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Used </a:t>
          </a:r>
          <a:r>
            <a:rPr lang="en-US" sz="2000" kern="1200" dirty="0" err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SentenceTransformer’s</a:t>
          </a:r>
          <a:r>
            <a:rPr lang="en-US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all-MiniLM-L6-v2 model to generate rich, contextual embeddings for product descriptions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Used Weighted similarity scoring mechanism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Selected</a:t>
          </a:r>
        </a:p>
      </dsp:txBody>
      <dsp:txXfrm>
        <a:off x="7863539" y="809710"/>
        <a:ext cx="3447370" cy="3448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72078-FE13-465B-8394-171BF2ADEF7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7977C-47E9-44EF-A5B3-C0701FA0E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004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07BBB-8B09-8AA2-00AA-2509C202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EFAB8-34A0-17EE-2FCF-E8A75E0C5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D833F-D34C-B0DF-E7FD-747FB7B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6EC3D-6798-2651-25AE-887E9DBB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9F16C-3202-BD88-42E5-73465853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47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0062A-A43F-FB1C-36FA-16A67608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DF23D-CF49-F041-A885-9EDA8A2B4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CDB22-9381-FDD4-DACC-4CA0C72C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62123-67AB-90A8-6819-38232407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69720-E57C-2030-492D-9C8897B7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6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9048-F838-15EE-DCBA-ED8C0876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7BB3D-AB24-23FA-6B2B-A0C13924A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5430E-429A-9168-1C10-964E8E0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A8EF-18C0-A049-50B4-7D53D796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05675-63C8-5635-6E69-14883CAD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1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486F-8472-E0A8-5117-3F020BA6F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445F5-0D46-CCD4-7F77-5C0CA3ECB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2472C-A569-BD9F-E171-9255FC152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1DE00-EAE9-45BF-92B7-811DC5E67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E3C15-DF66-9357-E6A7-D95FA1C7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469D3-38D1-0DC3-5679-BA198813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88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4D33-3979-32E7-79EC-3CB83A25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E654F-50DE-BD21-6252-DBF12E2FC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27E20-7296-2958-D37A-C5256B081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69641-08EB-5C90-B1FC-CE89D9FF2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6CC0C-4784-6766-2B44-6CAEF35C4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4C660-44A2-F828-077E-61F40286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4F6A6-298E-754C-0915-E6EF28F6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34097-3938-36B1-431A-A4843FA2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01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43D0F-CD23-9342-F234-2453A670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2EFC2-A281-7980-A169-959CF142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5834-1E76-F0B0-2492-C73885C0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4DDD7-5D2A-B73C-4CC6-89979784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80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23E52-3147-A1B9-DDAA-907F184DD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9929D-1E7E-AA42-27FB-2122883F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3E8D9-F466-AF11-3E01-C20C830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8B68-B460-CC68-4AE4-35CFF32A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6FAAA-B9F8-B5E8-6E7E-822E24F08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ED1D5-DA86-67F8-70D5-6CC26D73F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1C389-5728-967C-AF43-105927E7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BABFD-25E5-1DB2-7199-B4BCEB25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F5C4A-83F7-7F23-CD56-EE48C79D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29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11DB-1C6B-95BE-C02E-872A3A87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62B4-D712-EFC3-5CFF-976BF0C3A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35567-F3DE-8DC1-395C-6DA386136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AEC2E-C043-6755-E7FD-E08F6259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9DD97-E4D3-3F30-7E22-936201AA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F6D61-20F0-F0D9-714F-10D8601BE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77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DBB1-BF3C-AA12-33F4-E8EC5606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C3ED7-1133-8D64-FE67-18BE73218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A8A27-0571-4C72-1E11-0256A091D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556B4-219A-2C89-2A30-BC93461F3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751B9-471D-4B78-D377-267E712F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280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FB591-53D5-84C2-8FD0-E8092C57C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1A5FF-E40C-3ACC-FA10-8DDE9A087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F0178-C6B0-1C7F-845B-4DFE55FD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AA9B6-6FCE-2EA1-B4D0-1DDAD7E0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D8197-A7DA-02AB-53AE-9BF1B4F6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564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1694AA4-10C4-47D8-9EC1-9A42EDF38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60870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Confidential - Decision Point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C5D6D4AC-FDEB-45F8-92D7-50B9D5079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25608" y="6660870"/>
            <a:ext cx="357846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0A39E1-FABC-4960-AC5F-AC8090D888BB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C6EF4-B7B0-E7C6-B04A-D4057F0BC42B}"/>
              </a:ext>
            </a:extLst>
          </p:cNvPr>
          <p:cNvSpPr/>
          <p:nvPr userDrawn="1"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2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1F28F6-0AA3-D462-B1C5-5220BC2B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12" y="138196"/>
            <a:ext cx="11865888" cy="54656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200" b="1">
                <a:solidFill>
                  <a:schemeClr val="bg1"/>
                </a:solidFill>
                <a:latin typeface="Arial Nova" panose="020B050402020202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88F54D-194F-DF32-84B5-0147191918DA}"/>
              </a:ext>
            </a:extLst>
          </p:cNvPr>
          <p:cNvSpPr/>
          <p:nvPr userDrawn="1"/>
        </p:nvSpPr>
        <p:spPr>
          <a:xfrm>
            <a:off x="-1" y="138196"/>
            <a:ext cx="96407" cy="546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096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D88B9C-C706-485E-3705-2AB6B81EC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4928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24812DF3-5728-4251-B936-F527A98CD1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9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E1D457-B27A-E7B2-54FA-0C3CE5FE8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A23A1-3264-8C0F-2F6A-EE6DAE337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6162D-5BE7-DE31-3FCF-8F29B5552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34257-1F71-4F7C-A64A-A9580D986648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01F84-B976-B29A-EB1B-B63B03262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C05EA-B68C-F9D0-B77D-504A9C742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1A12D-4A27-49D5-93D4-D154EA46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52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1954" y="6681072"/>
            <a:ext cx="1218565" cy="12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25"/>
              </a:lnSpc>
            </a:pPr>
            <a:r>
              <a:rPr sz="950" dirty="0">
                <a:latin typeface="Calibri"/>
                <a:cs typeface="Calibri"/>
              </a:rPr>
              <a:t>Classified</a:t>
            </a:r>
            <a:r>
              <a:rPr sz="950" spc="10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-</a:t>
            </a:r>
            <a:r>
              <a:rPr sz="950" spc="75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</a:rPr>
              <a:t>Confidential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9082" y="-14368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2474" cy="67913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095623"/>
              <a:ext cx="12191999" cy="376237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157330" y="2707431"/>
            <a:ext cx="3615070" cy="74764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5705"/>
              </a:lnSpc>
            </a:pPr>
            <a:r>
              <a:rPr lang="en-IN" sz="5000" spc="-65" dirty="0">
                <a:solidFill>
                  <a:srgbClr val="FFFFFF"/>
                </a:solidFill>
                <a:latin typeface="Arial Nova" panose="020B0504020202020204" pitchFamily="34" charset="0"/>
              </a:rPr>
              <a:t>GobbleCube</a:t>
            </a:r>
            <a:endParaRPr lang="en-IN" sz="5000" dirty="0">
              <a:latin typeface="Arial Nova" panose="020B05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47257" y="3455072"/>
            <a:ext cx="7598229" cy="949619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lang="en-US" sz="2800" spc="-20" dirty="0">
                <a:solidFill>
                  <a:schemeClr val="bg1"/>
                </a:solidFill>
                <a:latin typeface="Arial Nova" panose="020B0504020202020204" pitchFamily="34" charset="0"/>
                <a:cs typeface="Calibri"/>
              </a:rPr>
              <a:t>Product Matching Algorithm Assignment</a:t>
            </a:r>
          </a:p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lang="en-US" sz="2000" spc="-20" dirty="0">
                <a:solidFill>
                  <a:schemeClr val="bg1"/>
                </a:solidFill>
                <a:latin typeface="Arial Nova" panose="020B0504020202020204" pitchFamily="34" charset="0"/>
                <a:cs typeface="Calibri"/>
              </a:rPr>
              <a:t>- Govind Kishore</a:t>
            </a:r>
            <a:endParaRPr sz="2000" dirty="0">
              <a:solidFill>
                <a:schemeClr val="bg1"/>
              </a:solidFill>
              <a:latin typeface="Arial Nova" panose="020B0504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30A73-A5B9-B08E-210F-1C6740DF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7755284-2E6A-6BDC-4C1D-74086BB5D9F7}"/>
              </a:ext>
            </a:extLst>
          </p:cNvPr>
          <p:cNvSpPr/>
          <p:nvPr/>
        </p:nvSpPr>
        <p:spPr>
          <a:xfrm>
            <a:off x="-34291" y="-34292"/>
            <a:ext cx="12252960" cy="902971"/>
          </a:xfrm>
          <a:custGeom>
            <a:avLst/>
            <a:gdLst/>
            <a:ahLst/>
            <a:cxnLst/>
            <a:rect l="l" t="t" r="r" b="b"/>
            <a:pathLst>
              <a:path w="12192000" h="1160145">
                <a:moveTo>
                  <a:pt x="12192000" y="0"/>
                </a:moveTo>
                <a:lnTo>
                  <a:pt x="0" y="0"/>
                </a:lnTo>
                <a:lnTo>
                  <a:pt x="0" y="1159535"/>
                </a:lnTo>
                <a:lnTo>
                  <a:pt x="12192000" y="1159535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" panose="02060603020205020403" pitchFamily="18" charset="0"/>
              </a:rPr>
              <a:t>Problem Statement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80D2B5-6D4B-7507-930D-D5D698B32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276527"/>
              </p:ext>
            </p:extLst>
          </p:nvPr>
        </p:nvGraphicFramePr>
        <p:xfrm>
          <a:off x="421979" y="1413243"/>
          <a:ext cx="11348041" cy="405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235">
                  <a:extLst>
                    <a:ext uri="{9D8B030D-6E8A-4147-A177-3AD203B41FA5}">
                      <a16:colId xmlns:a16="http://schemas.microsoft.com/office/drawing/2014/main" val="3271557534"/>
                    </a:ext>
                  </a:extLst>
                </a:gridCol>
                <a:gridCol w="8303806">
                  <a:extLst>
                    <a:ext uri="{9D8B030D-6E8A-4147-A177-3AD203B41FA5}">
                      <a16:colId xmlns:a16="http://schemas.microsoft.com/office/drawing/2014/main" val="284669737"/>
                    </a:ext>
                  </a:extLst>
                </a:gridCol>
              </a:tblGrid>
              <a:tr h="906957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What is the Problem?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Develop product matching algorithm to map the products available on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Blinkit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with those on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Zepto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and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Instamart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96265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Who has this Problem?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Analysts/ Product Managers/ Sales Professionals may face this inconsistency of distribution of products and thus would want to understand the coverage of their products across Q-comms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853513"/>
                  </a:ext>
                </a:extLst>
              </a:tr>
              <a:tr h="1126435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Why should this Problem be solved?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Enable seamless product comparisons across platforms and optimize. Reduce manual effort in brand harmonization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564737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Success Criteria?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Brand Mapping success rate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Product Matching Accuracy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Coverage compared to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Blinkit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platform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8563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9DB57-F9C8-A028-6630-AE75A7598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812DF3-5728-4251-B936-F527A98CD1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855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2FC172-7EE8-DCBB-C2B3-DC245B9C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80" y="138196"/>
            <a:ext cx="11708219" cy="546568"/>
          </a:xfrm>
        </p:spPr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Flowchart</a:t>
            </a:r>
          </a:p>
        </p:txBody>
      </p:sp>
      <p:pic>
        <p:nvPicPr>
          <p:cNvPr id="5" name="Content Placeholder 4" descr="A screenshot of a diagram">
            <a:extLst>
              <a:ext uri="{FF2B5EF4-FFF2-40B4-BE49-F238E27FC236}">
                <a16:creationId xmlns:a16="http://schemas.microsoft.com/office/drawing/2014/main" id="{5D63AD73-BC33-1563-D9B8-F8700C4E2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49" y="1017337"/>
            <a:ext cx="10558130" cy="555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9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EBB06-3E2D-46D1-B99A-8F13067A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7E7171-EB64-F6EC-0ABC-612035C4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Data Profiling: few issues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3301E7-E695-2A61-E251-5EBA80C20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527190"/>
              </p:ext>
            </p:extLst>
          </p:nvPr>
        </p:nvGraphicFramePr>
        <p:xfrm>
          <a:off x="421979" y="874798"/>
          <a:ext cx="11348041" cy="5282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235">
                  <a:extLst>
                    <a:ext uri="{9D8B030D-6E8A-4147-A177-3AD203B41FA5}">
                      <a16:colId xmlns:a16="http://schemas.microsoft.com/office/drawing/2014/main" val="3271557534"/>
                    </a:ext>
                  </a:extLst>
                </a:gridCol>
                <a:gridCol w="8303806">
                  <a:extLst>
                    <a:ext uri="{9D8B030D-6E8A-4147-A177-3AD203B41FA5}">
                      <a16:colId xmlns:a16="http://schemas.microsoft.com/office/drawing/2014/main" val="284669737"/>
                    </a:ext>
                  </a:extLst>
                </a:gridCol>
              </a:tblGrid>
              <a:tr h="906957">
                <a:tc>
                  <a:txBody>
                    <a:bodyPr/>
                    <a:lstStyle/>
                    <a:p>
                      <a:pPr marL="274320"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Overall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Columns to work with: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gc_platform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Product_id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Category, Brand, Title, MRP, Grammage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96265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274320"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Specific to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Blinkit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Blank in Betel Nuts brand column: looked at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blinkit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website and found two brands- whole farm and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Svasti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; took Whole Farm brand- similar price checked on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blinkit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MRPs values in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blinkit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not present for 102 brands - web scrape later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Parle Monaco Piri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Piri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bisuit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had brand Parle, but other Parle Monaco items had Parle Monaco brand. So changed that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Amritam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Jaggery powder is duplicated entry with diff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product_id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- 540345 / 540348. dropping 540345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853513"/>
                  </a:ext>
                </a:extLst>
              </a:tr>
              <a:tr h="1126435">
                <a:tc>
                  <a:txBody>
                    <a:bodyPr/>
                    <a:lstStyle/>
                    <a:p>
                      <a:pPr marL="274320"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Specific to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Zepto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Desi Choice Sugar S30 in title, brand is Desi Sugar, 1kg but no MRP: not available on website also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MRPs of 41 items not present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Aesnackible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brand should be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Snackible</a:t>
                      </a:r>
                      <a:endParaRPr lang="en-US" sz="14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Bikfarm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should be Bisk farm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JK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Popy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seeds of 100g has brand name JK, while same of 50g has brand name JK Paper; JK paper also present for Kala Jeera item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Pran Potato biscuit come under Pran brand and not Tata as mentioned in the data; in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Blinkit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it is mentioned correctly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564737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274320"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Specific to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Instamart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 Nova" panose="020B0504020202020204" pitchFamily="34" charset="0"/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Brand name missing for these titles: Ma products brands checked on Insta. PE Guntur Chilli is actually Popular Essentials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MRP absent for 9 products in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instamart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data and so on….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8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708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50E6-33DC-2ABA-0B15-46209FA70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B1212-F972-7E6C-9BAC-917DEE07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Rockwell" panose="02060603020205020403" pitchFamily="18" charset="0"/>
              </a:rPr>
              <a:t>Workable Solutions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324ECD-A703-657E-B842-E136AE259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0455629"/>
              </p:ext>
            </p:extLst>
          </p:nvPr>
        </p:nvGraphicFramePr>
        <p:xfrm>
          <a:off x="438777" y="1594884"/>
          <a:ext cx="11314446" cy="449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74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5750-25B7-B511-1EB0-25B02670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D153D8-11CC-EA38-A951-29E043189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Chosen solution: Approach to Product Mapping Algorithm</a:t>
            </a:r>
            <a:endParaRPr lang="en-IN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DE9493-783A-ECB9-BFBD-0CF0087FA082}"/>
              </a:ext>
            </a:extLst>
          </p:cNvPr>
          <p:cNvSpPr txBox="1">
            <a:spLocks/>
          </p:cNvSpPr>
          <p:nvPr/>
        </p:nvSpPr>
        <p:spPr>
          <a:xfrm>
            <a:off x="632730" y="991482"/>
            <a:ext cx="10926540" cy="4218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Foundation: Utilizing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SentenceTransformer’s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all-MiniLM-L6-v2 model to generate rich, contextual numerical embeddings from product descriptions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Why this model?</a:t>
            </a:r>
          </a:p>
          <a:p>
            <a: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Very fast and lightweight: Its’s a robust general purpose semantic similarity model, making it highly effective: generated the embedding text into 384 dimensions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Why not other models?</a:t>
            </a:r>
          </a:p>
          <a:p>
            <a: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OpenAI’s Embeddings (text-embedding-ada-002/ text-embedding-3-large) not chosen due to cost</a:t>
            </a:r>
          </a:p>
          <a:p>
            <a: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Larger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SentenceTransformer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Models (multi-qa-mpnet-base-dot-v1): not chosen due to resource constraint</a:t>
            </a:r>
          </a:p>
          <a:p>
            <a:pPr marL="1371600" marR="0" lvl="3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C14329-D71C-AFB4-DB8E-0544BA08E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35" y="5209953"/>
            <a:ext cx="10554242" cy="11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10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E9D0-2E30-EA67-1131-BDA352FB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6695C-1DA5-E321-2DC2-6A7736B9C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Chosen solution: Approach to Product Mapping Algorithm</a:t>
            </a:r>
            <a:endParaRPr lang="en-IN" sz="24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687C84A-6822-69ED-959A-C319AA29BDF7}"/>
              </a:ext>
            </a:extLst>
          </p:cNvPr>
          <p:cNvSpPr txBox="1">
            <a:spLocks/>
          </p:cNvSpPr>
          <p:nvPr/>
        </p:nvSpPr>
        <p:spPr>
          <a:xfrm>
            <a:off x="601134" y="1280396"/>
            <a:ext cx="10369867" cy="4897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Intelligent Combination: Merges multiple product attributes (Category, Brand, Title, processing(Grammage column- abs value, unit, </a:t>
            </a:r>
            <a:r>
              <a:rPr lang="en-US" dirty="0" err="1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num_pieces</a:t>
            </a:r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) into a single embedding text for better semantic understanding</a:t>
            </a:r>
          </a:p>
          <a:p>
            <a:pPr lvl="1"/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Precision through Weighting: Implementing a weighted similarity score that prioritizes key matching criteria, ensuring relevant mapping</a:t>
            </a:r>
          </a:p>
          <a:p>
            <a:pPr lvl="2"/>
            <a:r>
              <a:rPr lang="en-US" sz="2000" dirty="0" err="1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Cosine_similarity</a:t>
            </a:r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: 0.6 weight to capture deep contextual meaning</a:t>
            </a:r>
          </a:p>
          <a:p>
            <a:pPr lvl="2"/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Category &amp; Brand match: (0.1 weight each; probabilistic matching of brand) to ensure foundational alignment</a:t>
            </a:r>
          </a:p>
          <a:p>
            <a:pPr lvl="2"/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Grammage details: (0.2/3 weight each for </a:t>
            </a:r>
            <a:r>
              <a:rPr lang="en-US" sz="2000" dirty="0" err="1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unit_type</a:t>
            </a:r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, Value (+/-10%), pieces (+/-10%) refines matches based on quantity </a:t>
            </a:r>
            <a:endParaRPr lang="en-US" sz="20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636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44E6-C48A-12F3-3EE5-2B600C39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5648CC-F94B-8779-3C64-17CBC2DF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Success metrics</a:t>
            </a:r>
            <a:endParaRPr lang="en-IN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C1F978-7412-DBA3-28B6-A7DBE2D7C596}"/>
              </a:ext>
            </a:extLst>
          </p:cNvPr>
          <p:cNvSpPr txBox="1">
            <a:spLocks/>
          </p:cNvSpPr>
          <p:nvPr/>
        </p:nvSpPr>
        <p:spPr>
          <a:xfrm>
            <a:off x="845522" y="1408224"/>
            <a:ext cx="10369867" cy="4897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both platforms: </a:t>
            </a:r>
            <a:r>
              <a:rPr lang="en-US" dirty="0" err="1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Zepto</a:t>
            </a:r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</a:t>
            </a:r>
            <a:r>
              <a:rPr lang="en-US" dirty="0" err="1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Instamart</a:t>
            </a:r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, metrics like False Positive Rate, False Negative Rate, Precision, Recall, F1 Score all were calculated for thresholds varying from 0.6 to 0.95</a:t>
            </a:r>
          </a:p>
          <a:p>
            <a:pPr lvl="1"/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threshold level of 0.7: this means if the total score is &gt; 0.7, it is </a:t>
            </a:r>
            <a:r>
              <a:rPr lang="en-US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mapped else it is not mapped.</a:t>
            </a:r>
            <a:endParaRPr lang="en-US" dirty="0"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FPR was emphasized because higher FPR could impact the company financials- wrongful assortment, or promo/discount management,  poor inventory management.</a:t>
            </a:r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81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AA716-E2F4-88B7-1429-A4281143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8736A3-931C-8C2C-6E63-6072CD9B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Assumptions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2B5035-86A9-944B-3159-1958A9DF9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900166"/>
              </p:ext>
            </p:extLst>
          </p:nvPr>
        </p:nvGraphicFramePr>
        <p:xfrm>
          <a:off x="421979" y="1413243"/>
          <a:ext cx="11348041" cy="4207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235">
                  <a:extLst>
                    <a:ext uri="{9D8B030D-6E8A-4147-A177-3AD203B41FA5}">
                      <a16:colId xmlns:a16="http://schemas.microsoft.com/office/drawing/2014/main" val="3271557534"/>
                    </a:ext>
                  </a:extLst>
                </a:gridCol>
                <a:gridCol w="8303806">
                  <a:extLst>
                    <a:ext uri="{9D8B030D-6E8A-4147-A177-3AD203B41FA5}">
                      <a16:colId xmlns:a16="http://schemas.microsoft.com/office/drawing/2014/main" val="284669737"/>
                    </a:ext>
                  </a:extLst>
                </a:gridCol>
              </a:tblGrid>
              <a:tr h="906957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Related to Data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Provided product data (titles, categories, brands, grammage) across Q-com is representative of the products offered on each platform and contains sufficient information on meaningful comparisons. Inconsistencies around the brand column are dealt with.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96265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Related to Model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The chosen model is robust and captures the semantic nuances well without requiring extensive domain-specific fine tuning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853513"/>
                  </a:ext>
                </a:extLst>
              </a:tr>
              <a:tr h="1126435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Related to Features &amp; weightage allocation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Chosen weightage will hold true for very large datasets as well. Parsing Grammage column is assumed to be handling the majority of variations in formats</a:t>
                      </a:r>
                      <a:endParaRPr lang="en-US" sz="16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564737"/>
                  </a:ext>
                </a:extLst>
              </a:tr>
              <a:tr h="1012509">
                <a:tc>
                  <a:txBody>
                    <a:bodyPr/>
                    <a:lstStyle/>
                    <a:p>
                      <a:pPr marL="274320"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Related to threshold selection</a:t>
                      </a: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Assumed to be effective cut-off points between true matches and non-matches, balancing precision and recall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3278" marR="93278" marT="40574" marB="40574" anchor="ctr">
                    <a:lnL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8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32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583D-AF61-984F-3194-17B83D21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2A7593-3DB3-C13B-0CF3-0FCBF245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Next steps to make the algorithm scalable &amp; automated</a:t>
            </a:r>
            <a:endParaRPr lang="en-IN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8797EC-E758-1AE7-0EFB-AD74B583D508}"/>
              </a:ext>
            </a:extLst>
          </p:cNvPr>
          <p:cNvSpPr txBox="1">
            <a:spLocks/>
          </p:cNvSpPr>
          <p:nvPr/>
        </p:nvSpPr>
        <p:spPr>
          <a:xfrm>
            <a:off x="-65544" y="733647"/>
            <a:ext cx="12192000" cy="61243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8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Requirements: </a:t>
            </a:r>
          </a:p>
          <a:p>
            <a:pPr lvl="2"/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 based architecture to run the pipeline and deploy the solution (e.g. Google Cloud, AWS)</a:t>
            </a:r>
          </a:p>
          <a:p>
            <a:pPr lvl="2"/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 driven processing to implement automatic update of product data; also require batch &amp; real time processing to provide real time updates</a:t>
            </a:r>
          </a:p>
          <a:p>
            <a:pPr lvl="2"/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Monitoring through dashboard to track performance</a:t>
            </a:r>
          </a:p>
          <a:p>
            <a:pPr lvl="2"/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Retraining the loop to develop a system to periodically retrain the embedding model</a:t>
            </a:r>
          </a:p>
          <a:p>
            <a:pPr lvl="2"/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 as a resource to check manually and correct inconsistent mappings which can then be fed back into model training </a:t>
            </a:r>
          </a:p>
          <a:p>
            <a:pPr marL="457200" lvl="1" indent="0">
              <a:buNone/>
            </a:pPr>
            <a:r>
              <a:rPr lang="en-US" sz="28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Implications: </a:t>
            </a:r>
          </a:p>
          <a:p>
            <a:pPr lvl="2"/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Computation Cost: Cost of hosting on cloud ($500-$5000 per month) and memory cost. Cost of API- free if open source else OpenAI’s are costly</a:t>
            </a:r>
          </a:p>
          <a:p>
            <a:pPr lvl="2"/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 cost: $50-$500 per month for databases and data lakes</a:t>
            </a:r>
          </a:p>
          <a:p>
            <a:pPr lvl="2"/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Employees salary: Requires 1-2 ML engineers/Data Scientists and </a:t>
            </a:r>
            <a:r>
              <a:rPr lang="en-US" sz="2000" dirty="0" err="1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Devops</a:t>
            </a:r>
            <a:r>
              <a:rPr lang="en-US" sz="2000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guys. One resource (BA) for manually checking the results so obtained and doing away with inconsistencies: ($3000 per month)</a:t>
            </a:r>
          </a:p>
          <a:p>
            <a:pPr marL="914400" lvl="2" indent="0">
              <a:buNone/>
            </a:pPr>
            <a:endParaRPr lang="en-US" sz="2000" dirty="0"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169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1F17-A61A-789B-896B-64B360FC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10DB20-A1E6-4A7A-A1B6-0DA52B96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Rockwell" panose="02060603020205020403" pitchFamily="18" charset="0"/>
              </a:rPr>
              <a:t>Recommendations</a:t>
            </a:r>
            <a:endParaRPr lang="en-IN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0A0520-B5BC-C406-321C-1C1CA19E7EAE}"/>
              </a:ext>
            </a:extLst>
          </p:cNvPr>
          <p:cNvSpPr txBox="1">
            <a:spLocks/>
          </p:cNvSpPr>
          <p:nvPr/>
        </p:nvSpPr>
        <p:spPr>
          <a:xfrm>
            <a:off x="1143000" y="1658143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Continuous performance monitoring &amp; retraining: requires a robust data pipeline for monitoring mapping accuracy (precision, recall, F1 score)</a:t>
            </a:r>
          </a:p>
          <a:p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Enhance Human-in-the-loop feedback: to develop a UI for analysts &amp; PMs &amp; Sales guys to easily review, correct and validate suggestions</a:t>
            </a:r>
          </a:p>
          <a:p>
            <a:r>
              <a:rPr lang="en-US" i="1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Include Advanced Feature Integration: e.g. product images, customer review, price elasticity data, </a:t>
            </a:r>
            <a:r>
              <a:rPr lang="en-US" i="1" dirty="0" err="1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Flavour</a:t>
            </a:r>
            <a:r>
              <a:rPr lang="en-US" i="1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, Multipack/</a:t>
            </a:r>
            <a:r>
              <a:rPr lang="en-US" i="1" dirty="0" err="1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Singlepack</a:t>
            </a:r>
            <a:r>
              <a:rPr lang="en-US" i="1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, Refining Categories, etc.</a:t>
            </a:r>
          </a:p>
          <a:p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Gradual roll-out &amp; integration: integrate the solution with relevant business systems</a:t>
            </a:r>
          </a:p>
          <a:p>
            <a:r>
              <a:rPr lang="en-US" dirty="0"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Cost-Benefit Analysis: higher ROI = (Value derived/investments)</a:t>
            </a:r>
          </a:p>
        </p:txBody>
      </p:sp>
    </p:spTree>
    <p:extLst>
      <p:ext uri="{BB962C8B-B14F-4D97-AF65-F5344CB8AC3E}">
        <p14:creationId xmlns:p14="http://schemas.microsoft.com/office/powerpoint/2010/main" val="2947331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8742</TotalTime>
  <Words>1118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Aptos Display</vt:lpstr>
      <vt:lpstr>Arial</vt:lpstr>
      <vt:lpstr>Arial Nova</vt:lpstr>
      <vt:lpstr>Calibri</vt:lpstr>
      <vt:lpstr>Rockwell</vt:lpstr>
      <vt:lpstr>Tahoma</vt:lpstr>
      <vt:lpstr>Tw Cen MT</vt:lpstr>
      <vt:lpstr>Wingdings</vt:lpstr>
      <vt:lpstr>Office Theme</vt:lpstr>
      <vt:lpstr>GobbleCube</vt:lpstr>
      <vt:lpstr>PowerPoint Presentation</vt:lpstr>
      <vt:lpstr>Flowchart</vt:lpstr>
      <vt:lpstr>Data Profiling: few issues</vt:lpstr>
      <vt:lpstr>Workable Solutions</vt:lpstr>
      <vt:lpstr>Chosen solution: Approach to Product Mapping Algorithm</vt:lpstr>
      <vt:lpstr>Chosen solution: Approach to Product Mapping Algorithm</vt:lpstr>
      <vt:lpstr>Success metrics</vt:lpstr>
      <vt:lpstr>Assumptions</vt:lpstr>
      <vt:lpstr>Next steps to make the algorithm scalable &amp; automated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Paliwal</dc:creator>
  <cp:lastModifiedBy>DP IT</cp:lastModifiedBy>
  <cp:revision>78</cp:revision>
  <dcterms:created xsi:type="dcterms:W3CDTF">2025-07-03T10:46:01Z</dcterms:created>
  <dcterms:modified xsi:type="dcterms:W3CDTF">2025-08-04T06:10:58Z</dcterms:modified>
</cp:coreProperties>
</file>